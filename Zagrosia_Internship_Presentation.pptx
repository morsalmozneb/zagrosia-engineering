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notesMasterIdLst>
    <p:notesMasterId r:id="rId3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notesMaster" Target="notesMasters/notesMaster1.xml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37" Type="http://schemas.openxmlformats.org/officeDocument/2006/relationships/theme" Target="theme/theme1.xml"/><Relationship Id="rId3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everyone. We're Morsal and Farnaz. Over the past 9 weeks we did our internship at Zagrosia Engineering — a structural engineering firm in BC — where we built their entire digital presence from scratch. This presentation walks you through that journey.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Morsal handled digital operations and all front-end development. Farnaz led the UX/UI design from research through high-fidelity prototypes in Figma. Together, 9 weeks, one live website.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client is a startup engineering firm with over 35 years of combined expertise. Our supervisor was Homayoun Mozneb, owner and principal engineer.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brief was simple: build everything from scratch. No template, no existing codebase. Design it, code it, deploy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Morsal: Week 1 was all about setting up the company's digital foundation — email, social, and research. Before we could build a website, we had to understand who would use it and what competitors were doing.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Farnaz: My week 1 was about establishing the design foundation. No pixels until the structure is right — sitemap first, then user flows, then wireframes.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Weeks 2 and 3 were about building everything around the website — the content strategy, brand rules, and SEO foundation that make a site actually work in the real world.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Farnaz: The design process was strictly iterative. Low-fidelity first to validate layout without getting attached to colors or polish — then progressively adding detail as we confirmed each layer with the client.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was a pivotal moment. Seeing a real client react to the design — pointing at specific elements, asking questions — was completely different from an academic peer review.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Week 4 was the most intense week. Using AI tools allowed us to move from zero to a complete 8-page site in about 5 days. The key insight: AI doesn't write the website for you — it removes the friction so you can focus on the architecture and design decisions.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final weeks were about closing the gap between 'working' and 'polished.' Desktop layouts, animations, and accessibility — these details are what separate a professional product from a student project.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zagrosia.ca is a fully custom Next.js website with 8 complete pages, 35+ reusable React components, and production deployment on Netlify via GitHub CI/CD.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Home page is the most complex — it has to communicate the full breadth of what Zagrosia offers in a single scroll. Every section is animated to reveal on scroll using Framer Motion.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services, each with its own detailed section. The content was developed alongside the supervisor to accurately reflect real engineering practice.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Projects page is the firm's portfolio — the most important trust-building page for prospective clients. The filter system lets engineers and developers find relevant reference projects quickly.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AI Lab is one of the most unique differentiators for Zagrosia — no other structural engineering firm in BC has this. It positions them as the future-facing firm in the industry.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Academy section is a full learning platform built into the site. EGBC exam prep is something no other engineering firm website offers — it's a powerful lead-generation and trust-building tool.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more fully designed pages — each with unique layouts, animations, and production-ready content.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technology in the stack was chosen deliberately — Next.js 15 for production-grade performance, TypeScript for maintainability, Framer Motion for professional animations, Figma for design-to-dev handoff.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animations weren't just aesthetic — they're a deliberate UX choice. Scroll animations guide the user's attention, count-ups reinforce credibility, and the magnetic buttons make every CTA feel intentional.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design system was the invisible backbone — defined by Farnaz, implemented by Morsal. Consistent spacing, typography scale, and color usage is what makes the site look like a single coherent product, not a collection of pages.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Morsal: The biggest shift was learning that 'junior developer with AI' is not the same as 'beginner.' AI tools raise the ceiling — but only if you understand the fundamentals enough to guide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Farnaz: The most valuable lesson was that design doesn't end at Figma. Watching your designs come to life in code — and having to communicate with a developer about what matters and what can flex — is a skill they don't teach in class.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Working as a designer-developer pair was the closest thing to a real agency team we've experienced. The friction was real. So was the outcome.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four insights are the things we'll carry into our careers. They came from real work, real feedback, real failures, and real shipping.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most important word on this slide is 'live.' A real client, a real domain, real users. That's the distinction from a school project.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internship was a beginning, not an endpoint. Both of us leave with portfolio pieces, production experience, and a much clearer picture of where we're headed.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it up for questions. Be ready to demo the live site if asked — navigate to zagrosia.ca and show the scroll animations and the magnetic buttons.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0"/>
            <a:ext cx="2926080" cy="5143500"/>
          </a:xfrm>
          <a:prstGeom prst="rect">
            <a:avLst/>
          </a:prstGeom>
          <a:solidFill>
            <a:srgbClr val="0052A5"/>
          </a:solidFill>
          <a:ln w="12700">
            <a:solidFill>
              <a:srgbClr val="0052A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94B8DC"/>
          </a:solidFill>
          <a:ln w="12700">
            <a:solidFill>
              <a:srgbClr val="94B8D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82296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200" b="1" spc="600" kern="0" dirty="0">
                <a:solidFill>
                  <a:srgbClr val="FCF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ZAGROSIA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502920" y="169164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spc="800" kern="0" dirty="0">
                <a:solidFill>
                  <a:srgbClr val="94B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02920" y="2487168"/>
            <a:ext cx="4114800" cy="0"/>
          </a:xfrm>
          <a:prstGeom prst="line">
            <a:avLst/>
          </a:prstGeom>
          <a:noFill/>
          <a:ln w="19050">
            <a:solidFill>
              <a:srgbClr val="94B8D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260604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CF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Design &amp; Development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02920" y="30632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4B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Presentation — BCIT NMDW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46520" y="128016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CF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Morsal Mozneb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46520" y="162763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B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&amp; Web Dev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675120" y="2011680"/>
            <a:ext cx="2011680" cy="0"/>
          </a:xfrm>
          <a:prstGeom prst="line">
            <a:avLst/>
          </a:prstGeom>
          <a:noFill/>
          <a:ln w="6350">
            <a:solidFill>
              <a:srgbClr val="94B8DC">
                <a:alpha val="5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46520" y="217627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CF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Farnaz Gholami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46520" y="2523744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B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UX/UI Designer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446520" y="42976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CF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– July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CFC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38160" y="164592"/>
            <a:ext cx="822960" cy="237744"/>
          </a:xfrm>
          <a:prstGeom prst="roundRect">
            <a:avLst>
              <a:gd name="adj" fmla="val 19231"/>
            </a:avLst>
          </a:prstGeom>
          <a:solidFill>
            <a:srgbClr val="0052A5"/>
          </a:solidFill>
          <a:ln w="12700">
            <a:solidFill>
              <a:srgbClr val="0052A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119872" y="146304"/>
            <a:ext cx="859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CF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365760" y="4846320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zagrosia.ca  •  BCIT New Media Design &amp; Web Development  •  July 2026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 the Team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3840480" cy="3383280"/>
          </a:xfrm>
          <a:prstGeom prst="roundRect">
            <a:avLst>
              <a:gd name="adj" fmla="val 3243"/>
            </a:avLst>
          </a:prstGeom>
          <a:solidFill>
            <a:srgbClr val="F3F6FA"/>
          </a:solidFill>
          <a:ln w="12700">
            <a:solidFill>
              <a:srgbClr val="F3F6FA"/>
            </a:solidFill>
            <a:prstDash val="solid"/>
          </a:ln>
          <a:effectLst>
            <a:outerShdw sx="100000" sy="100000" kx="0" ky="0" algn="bl" rotWithShape="0" blurRad="152400" dist="50800" dir="27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417320" y="1325880"/>
            <a:ext cx="1920240" cy="1920240"/>
          </a:xfrm>
          <a:prstGeom prst="ellipse">
            <a:avLst/>
          </a:prstGeom>
          <a:solidFill>
            <a:srgbClr val="0052A5"/>
          </a:solidFill>
          <a:ln w="12700">
            <a:solidFill>
              <a:srgbClr val="0052A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417320" y="1325880"/>
            <a:ext cx="19202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CF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48640" y="33375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Morsal Mozneb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48640" y="3703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52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&amp; Front-End Developer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40416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 ·  TypeScript  ·  Tailwind  ·  Framer Motion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846320" y="1097280"/>
            <a:ext cx="3840480" cy="3383280"/>
          </a:xfrm>
          <a:prstGeom prst="roundRect">
            <a:avLst>
              <a:gd name="adj" fmla="val 3243"/>
            </a:avLst>
          </a:prstGeom>
          <a:solidFill>
            <a:srgbClr val="F3F6FA"/>
          </a:solidFill>
          <a:ln w="12700">
            <a:solidFill>
              <a:srgbClr val="F3F6FA"/>
            </a:solidFill>
            <a:prstDash val="solid"/>
          </a:ln>
          <a:effectLst>
            <a:outerShdw sx="100000" sy="100000" kx="0" ky="0" algn="bl" rotWithShape="0" blurRad="152400" dist="50800" dir="27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806440" y="1325880"/>
            <a:ext cx="1920240" cy="1920240"/>
          </a:xfrm>
          <a:prstGeom prst="ellipse">
            <a:avLst/>
          </a:prstGeom>
          <a:solidFill>
            <a:srgbClr val="0052A5"/>
          </a:solidFill>
          <a:ln w="12700">
            <a:solidFill>
              <a:srgbClr val="0052A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806440" y="1325880"/>
            <a:ext cx="19202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CF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5600" dirty="0"/>
          </a:p>
        </p:txBody>
      </p:sp>
      <p:sp>
        <p:nvSpPr>
          <p:cNvPr id="15" name="Text 13"/>
          <p:cNvSpPr/>
          <p:nvPr/>
        </p:nvSpPr>
        <p:spPr>
          <a:xfrm>
            <a:off x="4937760" y="33375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Farnaz Gholami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937760" y="3703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52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UX/UI Designer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937760" y="40416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Figma  ·  Wireframing  ·  Prototyping  ·  Design Systems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38160" y="164592"/>
            <a:ext cx="822960" cy="237744"/>
          </a:xfrm>
          <a:prstGeom prst="roundRect">
            <a:avLst>
              <a:gd name="adj" fmla="val 19231"/>
            </a:avLst>
          </a:prstGeom>
          <a:solidFill>
            <a:srgbClr val="0052A5"/>
          </a:solidFill>
          <a:ln w="12700">
            <a:solidFill>
              <a:srgbClr val="0052A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119872" y="146304"/>
            <a:ext cx="859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CF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365760" y="4846320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zagrosia.ca  •  BCIT New Media Design &amp; Web Development  •  July 2026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CF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Company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457200" y="8412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4B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Zagrosia Engineering Inc. / i3 Building Science &amp; Consulting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2560320" cy="1417320"/>
          </a:xfrm>
          <a:prstGeom prst="roundRect">
            <a:avLst>
              <a:gd name="adj" fmla="val 6452"/>
            </a:avLst>
          </a:prstGeom>
          <a:solidFill>
            <a:srgbClr val="0052A5"/>
          </a:solidFill>
          <a:ln w="12700">
            <a:solidFill>
              <a:srgbClr val="0052A5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" y="1554480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CF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35+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457200" y="219456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B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Years of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B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Expertise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91840" y="1417320"/>
            <a:ext cx="2560320" cy="1417320"/>
          </a:xfrm>
          <a:prstGeom prst="roundRect">
            <a:avLst>
              <a:gd name="adj" fmla="val 6452"/>
            </a:avLst>
          </a:prstGeom>
          <a:solidFill>
            <a:srgbClr val="0052A5"/>
          </a:solidFill>
          <a:ln w="12700">
            <a:solidFill>
              <a:srgbClr val="0052A5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291840" y="1554480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CF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3291840" y="219456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B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Provincial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B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Licences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26480" y="1417320"/>
            <a:ext cx="2560320" cy="1417320"/>
          </a:xfrm>
          <a:prstGeom prst="roundRect">
            <a:avLst>
              <a:gd name="adj" fmla="val 6452"/>
            </a:avLst>
          </a:prstGeom>
          <a:solidFill>
            <a:srgbClr val="0052A5"/>
          </a:solidFill>
          <a:ln w="12700">
            <a:solidFill>
              <a:srgbClr val="0052A5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126480" y="1554480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CF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P.Eng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6126480" y="219456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B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 · Alberta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B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Saskatchewan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30632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C8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Founded by Seyed Hassan Mozneb, M.Sc., P.Eng., Zagrosia Engineering is a structural engineering firm serving developers, contractors, and building owners across Western Canada. The firm specializes in structural design, seismic assessment, building envelope, and racking systems — while pushing the frontier of AI automation in engineering practice.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38160" y="164592"/>
            <a:ext cx="822960" cy="237744"/>
          </a:xfrm>
          <a:prstGeom prst="roundRect">
            <a:avLst>
              <a:gd name="adj" fmla="val 19231"/>
            </a:avLst>
          </a:prstGeom>
          <a:solidFill>
            <a:srgbClr val="0052A5"/>
          </a:solidFill>
          <a:ln w="12700">
            <a:solidFill>
              <a:srgbClr val="0052A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119872" y="146304"/>
            <a:ext cx="859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CF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365760" y="4846320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zagrosia.ca  •  BCIT New Media Design &amp; Web Development  •  July 2026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256032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Project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457200" y="960120"/>
            <a:ext cx="4663440" cy="640080"/>
          </a:xfrm>
          <a:prstGeom prst="roundRect">
            <a:avLst>
              <a:gd name="adj" fmla="val 11429"/>
            </a:avLst>
          </a:prstGeom>
          <a:solidFill>
            <a:srgbClr val="FCFCFC"/>
          </a:solidFill>
          <a:ln w="12700">
            <a:solidFill>
              <a:srgbClr val="D1DC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1014984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0052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40080" y="1261872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weeks (May 10 – July 5, 2026)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1783080"/>
            <a:ext cx="4663440" cy="640080"/>
          </a:xfrm>
          <a:prstGeom prst="roundRect">
            <a:avLst>
              <a:gd name="adj" fmla="val 11429"/>
            </a:avLst>
          </a:prstGeom>
          <a:solidFill>
            <a:srgbClr val="FCFCFC"/>
          </a:solidFill>
          <a:ln w="12700">
            <a:solidFill>
              <a:srgbClr val="D1DC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0080" y="1837944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0052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640080" y="2084832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340+ combined hours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606040"/>
            <a:ext cx="4663440" cy="640080"/>
          </a:xfrm>
          <a:prstGeom prst="roundRect">
            <a:avLst>
              <a:gd name="adj" fmla="val 11429"/>
            </a:avLst>
          </a:prstGeom>
          <a:solidFill>
            <a:srgbClr val="FCFCFC"/>
          </a:solidFill>
          <a:ln w="12700">
            <a:solidFill>
              <a:srgbClr val="D1DC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0080" y="2660904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0052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 BUILT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640080" y="2907792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full pages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3429000"/>
            <a:ext cx="4663440" cy="640080"/>
          </a:xfrm>
          <a:prstGeom prst="roundRect">
            <a:avLst>
              <a:gd name="adj" fmla="val 11429"/>
            </a:avLst>
          </a:prstGeom>
          <a:solidFill>
            <a:srgbClr val="FCFCFC"/>
          </a:solidFill>
          <a:ln w="12700">
            <a:solidFill>
              <a:srgbClr val="D1DC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40080" y="3483864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0052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640080" y="3730752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production website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394960" y="777240"/>
            <a:ext cx="3383280" cy="3931920"/>
          </a:xfrm>
          <a:prstGeom prst="roundRect">
            <a:avLst>
              <a:gd name="adj" fmla="val 3784"/>
            </a:avLst>
          </a:prstGeom>
          <a:solidFill>
            <a:srgbClr val="0052A5"/>
          </a:solidFill>
          <a:ln w="12700">
            <a:solidFill>
              <a:srgbClr val="0052A5"/>
            </a:solidFill>
            <a:prstDash val="solid"/>
          </a:ln>
          <a:effectLst>
            <a:outerShdw sx="100000" sy="100000" kx="0" ky="0" algn="bl" rotWithShape="0" blurRad="152400" dist="50800" dir="27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532120" y="9144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CF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Pages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5577840" y="1417320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CF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Home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577840" y="1783080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4B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About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577840" y="2148840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CF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Services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577840" y="2514600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4B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Projects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577840" y="2880360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CF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AI Lab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577840" y="3246120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4B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Academy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577840" y="3611880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CF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Blog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577840" y="3977640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4B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Contact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52A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0"/>
            <a:ext cx="2560320" cy="5143500"/>
          </a:xfrm>
          <a:prstGeom prst="rect">
            <a:avLst/>
          </a:prstGeom>
          <a:solidFill>
            <a:srgbClr val="003A74"/>
          </a:solidFill>
          <a:ln w="12700">
            <a:solidFill>
              <a:srgbClr val="003A7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64592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CF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CF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548640" y="283464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94B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weeks · May – July 2026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457200" cy="297180"/>
          </a:xfrm>
          <a:prstGeom prst="rect">
            <a:avLst/>
          </a:prstGeom>
          <a:solidFill>
            <a:srgbClr val="94B8DC"/>
          </a:solidFill>
          <a:ln w="12700">
            <a:solidFill>
              <a:srgbClr val="94B8DC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CFC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38160" y="164592"/>
            <a:ext cx="822960" cy="237744"/>
          </a:xfrm>
          <a:prstGeom prst="roundRect">
            <a:avLst>
              <a:gd name="adj" fmla="val 19231"/>
            </a:avLst>
          </a:prstGeom>
          <a:solidFill>
            <a:srgbClr val="0052A5"/>
          </a:solidFill>
          <a:ln w="12700">
            <a:solidFill>
              <a:srgbClr val="0052A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119872" y="146304"/>
            <a:ext cx="859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CF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365760" y="4846320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zagrosia.ca  •  BCIT New Media Design &amp; Web Development  •  July 2026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384048" y="749808"/>
            <a:ext cx="201168" cy="201168"/>
          </a:xfrm>
          <a:prstGeom prst="ellipse">
            <a:avLst/>
          </a:prstGeom>
          <a:solidFill>
            <a:srgbClr val="0052A5"/>
          </a:solidFill>
          <a:ln w="12700">
            <a:solidFill>
              <a:srgbClr val="0052A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" y="950976"/>
            <a:ext cx="0" cy="3657600"/>
          </a:xfrm>
          <a:prstGeom prst="line">
            <a:avLst/>
          </a:prstGeom>
          <a:noFill/>
          <a:ln w="19050">
            <a:solidFill>
              <a:srgbClr val="D1DC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56032"/>
            <a:ext cx="7955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— Onboarding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347472" y="1097280"/>
            <a:ext cx="274320" cy="274320"/>
          </a:xfrm>
          <a:prstGeom prst="ellipse">
            <a:avLst/>
          </a:prstGeom>
          <a:solidFill>
            <a:srgbClr val="94B8DC"/>
          </a:solidFill>
          <a:ln w="12700">
            <a:solidFill>
              <a:srgbClr val="94B8D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960120"/>
            <a:ext cx="7955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52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Infrastructure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1271016"/>
            <a:ext cx="79552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Microsoft 365 for the firm — info@zagrosia.ca, professional email accounts. Configured DNS records via GoDaddy.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47472" y="1984248"/>
            <a:ext cx="274320" cy="274320"/>
          </a:xfrm>
          <a:prstGeom prst="ellipse">
            <a:avLst/>
          </a:prstGeom>
          <a:solidFill>
            <a:srgbClr val="94B8DC"/>
          </a:solidFill>
          <a:ln w="12700">
            <a:solidFill>
              <a:srgbClr val="94B8D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1847088"/>
            <a:ext cx="7955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52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 Business Page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2157984"/>
            <a:ext cx="79552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and launched the Zagrosia Engineering LinkedIn company page with branded content and company overview.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47472" y="2871216"/>
            <a:ext cx="274320" cy="274320"/>
          </a:xfrm>
          <a:prstGeom prst="ellipse">
            <a:avLst/>
          </a:prstGeom>
          <a:solidFill>
            <a:srgbClr val="94B8DC"/>
          </a:solidFill>
          <a:ln w="12700">
            <a:solidFill>
              <a:srgbClr val="94B8D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2734056"/>
            <a:ext cx="7955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52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Competitor Research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22960" y="3044952"/>
            <a:ext cx="79552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Analyzed 5+ structural engineering firm websites across BC. Identified gaps in digital presence and UX patterns to improve on.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47472" y="3758184"/>
            <a:ext cx="274320" cy="274320"/>
          </a:xfrm>
          <a:prstGeom prst="ellipse">
            <a:avLst/>
          </a:prstGeom>
          <a:solidFill>
            <a:srgbClr val="94B8DC"/>
          </a:solidFill>
          <a:ln w="12700">
            <a:solidFill>
              <a:srgbClr val="94B8D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3621024"/>
            <a:ext cx="7955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52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Client Definition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22960" y="3931920"/>
            <a:ext cx="79552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Mapped ideal clients: project owners, developers, contractors in Western Canada. Informed navigation and content strategy.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38160" y="164592"/>
            <a:ext cx="822960" cy="237744"/>
          </a:xfrm>
          <a:prstGeom prst="roundRect">
            <a:avLst>
              <a:gd name="adj" fmla="val 19231"/>
            </a:avLst>
          </a:prstGeom>
          <a:solidFill>
            <a:srgbClr val="0052A5"/>
          </a:solidFill>
          <a:ln w="12700">
            <a:solidFill>
              <a:srgbClr val="0052A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119872" y="146304"/>
            <a:ext cx="859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CF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365760" y="4846320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zagrosia.ca  •  BCIT New Media Design &amp; Web Development  •  July 2026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UX Research &amp; Planning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052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Farnaz — Week 1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280160"/>
            <a:ext cx="4114800" cy="1508760"/>
          </a:xfrm>
          <a:prstGeom prst="roundRect">
            <a:avLst>
              <a:gd name="adj" fmla="val 6061"/>
            </a:avLst>
          </a:prstGeom>
          <a:solidFill>
            <a:srgbClr val="FCFCFC"/>
          </a:solidFill>
          <a:ln w="12700">
            <a:solidFill>
              <a:srgbClr val="D1DCE8"/>
            </a:solidFill>
            <a:prstDash val="solid"/>
          </a:ln>
          <a:effectLst>
            <a:outerShdw sx="100000" sy="100000" kx="0" ky="0" algn="bl" rotWithShape="0" blurRad="152400" dist="50800" dir="27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0080" y="1426464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52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Sitemap Planning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1755648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Defined site architecture: 8 primary pages with clear hierarchy and user journeys mapped for each audience type.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800600" y="1280160"/>
            <a:ext cx="4114800" cy="1508760"/>
          </a:xfrm>
          <a:prstGeom prst="roundRect">
            <a:avLst>
              <a:gd name="adj" fmla="val 6061"/>
            </a:avLst>
          </a:prstGeom>
          <a:solidFill>
            <a:srgbClr val="FCFCFC"/>
          </a:solidFill>
          <a:ln w="12700">
            <a:solidFill>
              <a:srgbClr val="D1DCE8"/>
            </a:solidFill>
            <a:prstDash val="solid"/>
          </a:ln>
          <a:effectLst>
            <a:outerShdw sx="100000" sy="100000" kx="0" ky="0" algn="bl" rotWithShape="0" blurRad="152400" dist="50800" dir="27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983480" y="1426464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52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Flow Mapping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983480" y="1755648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detailed user flows for key conversion paths — from landing to contact form, from Academy to exam prep.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926080"/>
            <a:ext cx="4114800" cy="1508760"/>
          </a:xfrm>
          <a:prstGeom prst="roundRect">
            <a:avLst>
              <a:gd name="adj" fmla="val 6061"/>
            </a:avLst>
          </a:prstGeom>
          <a:solidFill>
            <a:srgbClr val="FCFCFC"/>
          </a:solidFill>
          <a:ln w="12700">
            <a:solidFill>
              <a:srgbClr val="D1DCE8"/>
            </a:solidFill>
            <a:prstDash val="solid"/>
          </a:ln>
          <a:effectLst>
            <a:outerShdw sx="100000" sy="100000" kx="0" ky="0" algn="bl" rotWithShape="0" blurRad="152400" dist="50800" dir="27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0080" y="3072384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52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Low-Fi Wireframes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" y="3401568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 lo-fi wireframes for Home, About, and Contact pages. Fast iteration in Figma to test layout logic before committing to design.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800600" y="2926080"/>
            <a:ext cx="4114800" cy="1508760"/>
          </a:xfrm>
          <a:prstGeom prst="roundRect">
            <a:avLst>
              <a:gd name="adj" fmla="val 6061"/>
            </a:avLst>
          </a:prstGeom>
          <a:solidFill>
            <a:srgbClr val="FCFCFC"/>
          </a:solidFill>
          <a:ln w="12700">
            <a:solidFill>
              <a:srgbClr val="D1DCE8"/>
            </a:solidFill>
            <a:prstDash val="solid"/>
          </a:ln>
          <a:effectLst>
            <a:outerShdw sx="100000" sy="100000" kx="0" ky="0" algn="bl" rotWithShape="0" blurRad="152400" dist="50800" dir="27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983480" y="3072384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52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Card Design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983480" y="3401568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professional business cards for the firm's P.Eng — aligned with brand identity and print specifications.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CFC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38160" y="164592"/>
            <a:ext cx="822960" cy="237744"/>
          </a:xfrm>
          <a:prstGeom prst="roundRect">
            <a:avLst>
              <a:gd name="adj" fmla="val 19231"/>
            </a:avLst>
          </a:prstGeom>
          <a:solidFill>
            <a:srgbClr val="0052A5"/>
          </a:solidFill>
          <a:ln w="12700">
            <a:solidFill>
              <a:srgbClr val="0052A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119872" y="146304"/>
            <a:ext cx="859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CF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2–3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365760" y="4846320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zagrosia.ca  •  BCIT New Media Design &amp; Web Development  •  July 2026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2–3: Digital Operations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8503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Morsal — establishing the company's digital presence beyond the website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38912" y="1325880"/>
            <a:ext cx="548640" cy="548640"/>
          </a:xfrm>
          <a:prstGeom prst="ellipse">
            <a:avLst/>
          </a:prstGeom>
          <a:solidFill>
            <a:srgbClr val="0052A5"/>
          </a:solidFill>
          <a:ln w="12700">
            <a:solidFill>
              <a:srgbClr val="0052A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8912" y="1325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CF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88720" y="1344168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Strategy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188720" y="1691640"/>
            <a:ext cx="7498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Developed a content framework for the website and LinkedIn — defining tone, messaging hierarchy, and key differentiators for a structural engineering audience.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38912" y="2423160"/>
            <a:ext cx="548640" cy="548640"/>
          </a:xfrm>
          <a:prstGeom prst="ellipse">
            <a:avLst/>
          </a:prstGeom>
          <a:solidFill>
            <a:srgbClr val="0052A5"/>
          </a:solidFill>
          <a:ln w="12700">
            <a:solidFill>
              <a:srgbClr val="0052A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8912" y="2423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CF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88720" y="2441448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Documentation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188720" y="2788920"/>
            <a:ext cx="7498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Compiled brand guidelines alongside Farnaz's design system — colors, typography, logo usage, and image standards for consistent application across all channels.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38912" y="3520440"/>
            <a:ext cx="548640" cy="548640"/>
          </a:xfrm>
          <a:prstGeom prst="ellipse">
            <a:avLst/>
          </a:prstGeom>
          <a:solidFill>
            <a:srgbClr val="0052A5"/>
          </a:solidFill>
          <a:ln w="12700">
            <a:solidFill>
              <a:srgbClr val="0052A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8912" y="3520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CF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88720" y="3538728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 Foundation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188720" y="3886200"/>
            <a:ext cx="7498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Researched keyword opportunities for structural engineering in BC and Alberta. Set metadata strategy for each of the 8 website pages.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38160" y="164592"/>
            <a:ext cx="822960" cy="237744"/>
          </a:xfrm>
          <a:prstGeom prst="roundRect">
            <a:avLst>
              <a:gd name="adj" fmla="val 19231"/>
            </a:avLst>
          </a:prstGeom>
          <a:solidFill>
            <a:srgbClr val="0052A5"/>
          </a:solidFill>
          <a:ln w="12700">
            <a:solidFill>
              <a:srgbClr val="0052A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119872" y="146304"/>
            <a:ext cx="859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CF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2–4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365760" y="4846320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zagrosia.ca  •  BCIT New Media Design &amp; Web Development  •  July 2026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CF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Lo-Fi to Hi-Fi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8412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4B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Farnaz — Figma design process, weeks 2 through 4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325880"/>
            <a:ext cx="2697480" cy="3383280"/>
          </a:xfrm>
          <a:prstGeom prst="roundRect">
            <a:avLst>
              <a:gd name="adj" fmla="val 4068"/>
            </a:avLst>
          </a:prstGeom>
          <a:solidFill>
            <a:srgbClr val="0052A5"/>
          </a:solidFill>
          <a:ln w="12700">
            <a:solidFill>
              <a:srgbClr val="0052A5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463040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300" kern="0" dirty="0">
                <a:solidFill>
                  <a:srgbClr val="94B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594360" y="1719072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CF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Low-Fidelity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94360" y="2103120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4B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1–2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77240" y="2468880"/>
            <a:ext cx="2057400" cy="0"/>
          </a:xfrm>
          <a:prstGeom prst="line">
            <a:avLst/>
          </a:prstGeom>
          <a:noFill/>
          <a:ln w="9525">
            <a:solidFill>
              <a:srgbClr val="94B8DC">
                <a:alpha val="5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6060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00" dirty="0">
                <a:solidFill>
                  <a:srgbClr val="C8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Grayscale wireframes for all 8 pages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31546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00" dirty="0">
                <a:solidFill>
                  <a:srgbClr val="C8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 and information hierarchy validated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" y="37033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00" dirty="0">
                <a:solidFill>
                  <a:srgbClr val="C8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iteration — 3–4 versions per key page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355848" y="1325880"/>
            <a:ext cx="2697480" cy="3383280"/>
          </a:xfrm>
          <a:prstGeom prst="roundRect">
            <a:avLst>
              <a:gd name="adj" fmla="val 4068"/>
            </a:avLst>
          </a:prstGeom>
          <a:solidFill>
            <a:srgbClr val="0052A5"/>
          </a:solidFill>
          <a:ln w="12700">
            <a:solidFill>
              <a:srgbClr val="0052A5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493008" y="1463040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300" kern="0" dirty="0">
                <a:solidFill>
                  <a:srgbClr val="94B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3493008" y="1719072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CF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Mid-Fidelity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3493008" y="2103120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4B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75888" y="2468880"/>
            <a:ext cx="2057400" cy="0"/>
          </a:xfrm>
          <a:prstGeom prst="line">
            <a:avLst/>
          </a:prstGeom>
          <a:noFill/>
          <a:ln w="9525">
            <a:solidFill>
              <a:srgbClr val="94B8DC">
                <a:alpha val="5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538728" y="26060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00" dirty="0">
                <a:solidFill>
                  <a:srgbClr val="C8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real content and spacing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538728" y="31546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00" dirty="0">
                <a:solidFill>
                  <a:srgbClr val="C8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Typography hierarchy locked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538728" y="37033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00" dirty="0">
                <a:solidFill>
                  <a:srgbClr val="C8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patterns established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254496" y="1325880"/>
            <a:ext cx="2697480" cy="3383280"/>
          </a:xfrm>
          <a:prstGeom prst="roundRect">
            <a:avLst>
              <a:gd name="adj" fmla="val 4068"/>
            </a:avLst>
          </a:prstGeom>
          <a:solidFill>
            <a:srgbClr val="0052A5"/>
          </a:solidFill>
          <a:ln w="12700">
            <a:solidFill>
              <a:srgbClr val="0052A5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391656" y="1463040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300" kern="0" dirty="0">
                <a:solidFill>
                  <a:srgbClr val="94B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6391656" y="1719072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CF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High-Fidelity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6391656" y="2103120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4B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4–5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574536" y="2468880"/>
            <a:ext cx="2057400" cy="0"/>
          </a:xfrm>
          <a:prstGeom prst="line">
            <a:avLst/>
          </a:prstGeom>
          <a:noFill/>
          <a:ln w="9525">
            <a:solidFill>
              <a:srgbClr val="94B8DC">
                <a:alpha val="5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37376" y="26060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00" dirty="0">
                <a:solidFill>
                  <a:srgbClr val="C8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color, imagery, and micro-copy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437376" y="31546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00" dirty="0">
                <a:solidFill>
                  <a:srgbClr val="C8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Figma prototype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437376" y="37033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00" dirty="0">
                <a:solidFill>
                  <a:srgbClr val="C8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review-ready deliverable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38160" y="164592"/>
            <a:ext cx="822960" cy="237744"/>
          </a:xfrm>
          <a:prstGeom prst="roundRect">
            <a:avLst>
              <a:gd name="adj" fmla="val 19231"/>
            </a:avLst>
          </a:prstGeom>
          <a:solidFill>
            <a:srgbClr val="0052A5"/>
          </a:solidFill>
          <a:ln w="12700">
            <a:solidFill>
              <a:srgbClr val="0052A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119872" y="146304"/>
            <a:ext cx="859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CF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365760" y="4846320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zagrosia.ca  •  BCIT New Media Design &amp; Web Development  •  July 2026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Review Meeting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8412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 — Presenting the Hi-Fi Figma prototype to Homayoun Mozneb, P.Eng.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280160"/>
            <a:ext cx="5029200" cy="2194560"/>
          </a:xfrm>
          <a:prstGeom prst="roundRect">
            <a:avLst>
              <a:gd name="adj" fmla="val 5833"/>
            </a:avLst>
          </a:prstGeom>
          <a:solidFill>
            <a:srgbClr val="0052A5"/>
          </a:solidFill>
          <a:ln w="12700">
            <a:solidFill>
              <a:srgbClr val="0052A5"/>
            </a:solidFill>
            <a:prstDash val="solid"/>
          </a:ln>
          <a:effectLst>
            <a:outerShdw sx="100000" sy="100000" kx="0" ky="0" algn="bl" rotWithShape="0" blurRad="152400" dist="50800" dir="27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85800" y="1508760"/>
            <a:ext cx="4572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400" i="1" dirty="0">
                <a:solidFill>
                  <a:srgbClr val="FCF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“The first time the client saw all 8 pages</a:t>
            </a:r>
            <a:endParaRPr lang="en-US" sz="1400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400" i="1" dirty="0">
                <a:solidFill>
                  <a:srgbClr val="FCF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together — live, interactive, and branded.</a:t>
            </a:r>
            <a:endParaRPr lang="en-US" sz="1400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400" i="1" dirty="0">
                <a:solidFill>
                  <a:srgbClr val="FCF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2-hour session that shaped the final product.”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715000" y="128016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Feedback Incorporated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715000" y="173736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Refine hero section typography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715000" y="2176272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P.Eng credential badges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715000" y="2615184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Strengthen AI Lab section presence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715000" y="3054096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services detail copy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715000" y="3493008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nav improvements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657600"/>
            <a:ext cx="8229600" cy="749808"/>
          </a:xfrm>
          <a:prstGeom prst="roundRect">
            <a:avLst>
              <a:gd name="adj" fmla="val 12195"/>
            </a:avLst>
          </a:prstGeom>
          <a:solidFill>
            <a:srgbClr val="FCFCFC"/>
          </a:solidFill>
          <a:ln w="12700">
            <a:solidFill>
              <a:srgbClr val="D1DC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85800" y="3794760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Takeaway:  Real client feedback revealed priorities that specs alone never could. The meeting taught us to design for communication, not just aesthetics.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38160" y="164592"/>
            <a:ext cx="822960" cy="237744"/>
          </a:xfrm>
          <a:prstGeom prst="roundRect">
            <a:avLst>
              <a:gd name="adj" fmla="val 19231"/>
            </a:avLst>
          </a:prstGeom>
          <a:solidFill>
            <a:srgbClr val="0052A5"/>
          </a:solidFill>
          <a:ln w="12700">
            <a:solidFill>
              <a:srgbClr val="0052A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119872" y="146304"/>
            <a:ext cx="859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CF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365760" y="4846320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zagrosia.ca  •  BCIT New Media Design &amp; Web Development  •  July 2026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CF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Begins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8412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4B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Morsal — Week 4: All 8 pages built in a single intense development sprint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3258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100" kern="0" dirty="0">
                <a:solidFill>
                  <a:srgbClr val="94B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Development Stack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719072"/>
            <a:ext cx="4114800" cy="594360"/>
          </a:xfrm>
          <a:prstGeom prst="roundRect">
            <a:avLst>
              <a:gd name="adj" fmla="val 12308"/>
            </a:avLst>
          </a:prstGeom>
          <a:solidFill>
            <a:srgbClr val="0052A5"/>
          </a:solidFill>
          <a:ln w="12700">
            <a:solidFill>
              <a:srgbClr val="0052A5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0080" y="1773936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CF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Codex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2020824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B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code generation for boilerplate and component scaffolding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2432304"/>
            <a:ext cx="4114800" cy="594360"/>
          </a:xfrm>
          <a:prstGeom prst="roundRect">
            <a:avLst>
              <a:gd name="adj" fmla="val 12308"/>
            </a:avLst>
          </a:prstGeom>
          <a:solidFill>
            <a:srgbClr val="0052A5"/>
          </a:solidFill>
          <a:ln w="12700">
            <a:solidFill>
              <a:srgbClr val="0052A5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0080" y="2487168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CF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" y="2734056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B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logic, refactoring, and multi-file coordination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3145536"/>
            <a:ext cx="4114800" cy="594360"/>
          </a:xfrm>
          <a:prstGeom prst="roundRect">
            <a:avLst>
              <a:gd name="adj" fmla="val 12308"/>
            </a:avLst>
          </a:prstGeom>
          <a:solidFill>
            <a:srgbClr val="0052A5"/>
          </a:solidFill>
          <a:ln w="12700">
            <a:solidFill>
              <a:srgbClr val="0052A5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0080" y="320040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CF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V0 by Vercel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3447288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B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component generation from design descriptions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3858768"/>
            <a:ext cx="4114800" cy="594360"/>
          </a:xfrm>
          <a:prstGeom prst="roundRect">
            <a:avLst>
              <a:gd name="adj" fmla="val 12308"/>
            </a:avLst>
          </a:prstGeom>
          <a:solidFill>
            <a:srgbClr val="0052A5"/>
          </a:solidFill>
          <a:ln w="12700">
            <a:solidFill>
              <a:srgbClr val="0052A5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40080" y="3913632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CF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0080" y="416052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B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Inline completions while writing TypeScript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892040" y="13258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100" kern="0" dirty="0">
                <a:solidFill>
                  <a:srgbClr val="94B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 Completed in Week 4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892040" y="1719072"/>
            <a:ext cx="1828800" cy="530352"/>
          </a:xfrm>
          <a:prstGeom prst="roundRect">
            <a:avLst>
              <a:gd name="adj" fmla="val 13793"/>
            </a:avLst>
          </a:prstGeom>
          <a:solidFill>
            <a:srgbClr val="0052A5"/>
          </a:solidFill>
          <a:ln w="12700">
            <a:solidFill>
              <a:srgbClr val="0052A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92040" y="1810512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CF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Home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892040" y="2414016"/>
            <a:ext cx="1828800" cy="530352"/>
          </a:xfrm>
          <a:prstGeom prst="roundRect">
            <a:avLst>
              <a:gd name="adj" fmla="val 13793"/>
            </a:avLst>
          </a:prstGeom>
          <a:solidFill>
            <a:srgbClr val="0052A5"/>
          </a:solidFill>
          <a:ln w="12700">
            <a:solidFill>
              <a:srgbClr val="0052A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92040" y="2505456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CF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About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892040" y="3108960"/>
            <a:ext cx="1828800" cy="530352"/>
          </a:xfrm>
          <a:prstGeom prst="roundRect">
            <a:avLst>
              <a:gd name="adj" fmla="val 13793"/>
            </a:avLst>
          </a:prstGeom>
          <a:solidFill>
            <a:srgbClr val="0052A5"/>
          </a:solidFill>
          <a:ln w="12700">
            <a:solidFill>
              <a:srgbClr val="0052A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92040" y="320040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CF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Services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892040" y="3803904"/>
            <a:ext cx="1828800" cy="530352"/>
          </a:xfrm>
          <a:prstGeom prst="roundRect">
            <a:avLst>
              <a:gd name="adj" fmla="val 13793"/>
            </a:avLst>
          </a:prstGeom>
          <a:solidFill>
            <a:srgbClr val="0052A5"/>
          </a:solidFill>
          <a:ln w="12700">
            <a:solidFill>
              <a:srgbClr val="0052A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92040" y="3895344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CF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Projects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903720" y="1719072"/>
            <a:ext cx="1828800" cy="530352"/>
          </a:xfrm>
          <a:prstGeom prst="roundRect">
            <a:avLst>
              <a:gd name="adj" fmla="val 13793"/>
            </a:avLst>
          </a:prstGeom>
          <a:solidFill>
            <a:srgbClr val="0052A5"/>
          </a:solidFill>
          <a:ln w="12700">
            <a:solidFill>
              <a:srgbClr val="0052A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903720" y="1810512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CF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AI Lab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903720" y="2414016"/>
            <a:ext cx="1828800" cy="530352"/>
          </a:xfrm>
          <a:prstGeom prst="roundRect">
            <a:avLst>
              <a:gd name="adj" fmla="val 13793"/>
            </a:avLst>
          </a:prstGeom>
          <a:solidFill>
            <a:srgbClr val="0052A5"/>
          </a:solidFill>
          <a:ln w="12700">
            <a:solidFill>
              <a:srgbClr val="0052A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903720" y="2505456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CF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Academy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903720" y="3108960"/>
            <a:ext cx="1828800" cy="530352"/>
          </a:xfrm>
          <a:prstGeom prst="roundRect">
            <a:avLst>
              <a:gd name="adj" fmla="val 13793"/>
            </a:avLst>
          </a:prstGeom>
          <a:solidFill>
            <a:srgbClr val="0052A5"/>
          </a:solidFill>
          <a:ln w="12700">
            <a:solidFill>
              <a:srgbClr val="0052A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903720" y="320040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CF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Blog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903720" y="3803904"/>
            <a:ext cx="1828800" cy="530352"/>
          </a:xfrm>
          <a:prstGeom prst="roundRect">
            <a:avLst>
              <a:gd name="adj" fmla="val 13793"/>
            </a:avLst>
          </a:prstGeom>
          <a:solidFill>
            <a:srgbClr val="0052A5"/>
          </a:solidFill>
          <a:ln w="12700">
            <a:solidFill>
              <a:srgbClr val="0052A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903720" y="3895344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CF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Contact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CFC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38160" y="164592"/>
            <a:ext cx="822960" cy="237744"/>
          </a:xfrm>
          <a:prstGeom prst="roundRect">
            <a:avLst>
              <a:gd name="adj" fmla="val 19231"/>
            </a:avLst>
          </a:prstGeom>
          <a:solidFill>
            <a:srgbClr val="0052A5"/>
          </a:solidFill>
          <a:ln w="12700">
            <a:solidFill>
              <a:srgbClr val="0052A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119872" y="146304"/>
            <a:ext cx="859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CF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6–9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365760" y="4846320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zagrosia.ca  •  BCIT New Media Design &amp; Web Development  •  July 2026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Refinement &amp; Polish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8412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6–9 — Desktop layouts, animations, QA, and launch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280160"/>
            <a:ext cx="1920240" cy="411480"/>
          </a:xfrm>
          <a:prstGeom prst="roundRect">
            <a:avLst>
              <a:gd name="adj" fmla="val 17778"/>
            </a:avLst>
          </a:prstGeom>
          <a:solidFill>
            <a:srgbClr val="0052A5"/>
          </a:solidFill>
          <a:ln w="12700">
            <a:solidFill>
              <a:srgbClr val="0052A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28016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CF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6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417320" y="1481328"/>
            <a:ext cx="228600" cy="0"/>
          </a:xfrm>
          <a:prstGeom prst="line">
            <a:avLst/>
          </a:prstGeom>
          <a:noFill/>
          <a:ln w="19050">
            <a:solidFill>
              <a:srgbClr val="94B8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8288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Desktop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606040" y="1280160"/>
            <a:ext cx="1920240" cy="411480"/>
          </a:xfrm>
          <a:prstGeom prst="roundRect">
            <a:avLst>
              <a:gd name="adj" fmla="val 17778"/>
            </a:avLst>
          </a:prstGeom>
          <a:solidFill>
            <a:srgbClr val="0052A5"/>
          </a:solidFill>
          <a:ln w="12700">
            <a:solidFill>
              <a:srgbClr val="0052A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06040" y="128016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CF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7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566160" y="1481328"/>
            <a:ext cx="228600" cy="0"/>
          </a:xfrm>
          <a:prstGeom prst="line">
            <a:avLst/>
          </a:prstGeom>
          <a:noFill/>
          <a:ln w="19050">
            <a:solidFill>
              <a:srgbClr val="94B8D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60320" y="18288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Design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Shadows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54880" y="1280160"/>
            <a:ext cx="1920240" cy="411480"/>
          </a:xfrm>
          <a:prstGeom prst="roundRect">
            <a:avLst>
              <a:gd name="adj" fmla="val 17778"/>
            </a:avLst>
          </a:prstGeom>
          <a:solidFill>
            <a:srgbClr val="0052A5"/>
          </a:solidFill>
          <a:ln w="12700">
            <a:solidFill>
              <a:srgbClr val="0052A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0" y="128016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CF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8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715000" y="1481328"/>
            <a:ext cx="228600" cy="0"/>
          </a:xfrm>
          <a:prstGeom prst="line">
            <a:avLst/>
          </a:prstGeom>
          <a:noFill/>
          <a:ln w="19050">
            <a:solidFill>
              <a:srgbClr val="94B8D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09160" y="18288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Scroll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Animations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903720" y="1280160"/>
            <a:ext cx="1920240" cy="411480"/>
          </a:xfrm>
          <a:prstGeom prst="roundRect">
            <a:avLst>
              <a:gd name="adj" fmla="val 17778"/>
            </a:avLst>
          </a:prstGeom>
          <a:solidFill>
            <a:srgbClr val="0052A5"/>
          </a:solidFill>
          <a:ln w="12700">
            <a:solidFill>
              <a:srgbClr val="0052A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03720" y="128016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CF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9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863840" y="1481328"/>
            <a:ext cx="228600" cy="0"/>
          </a:xfrm>
          <a:prstGeom prst="line">
            <a:avLst/>
          </a:prstGeom>
          <a:noFill/>
          <a:ln w="19050">
            <a:solidFill>
              <a:srgbClr val="94B8D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58000" y="18288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&amp; Launch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" y="25146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52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Desktop-First Overhaul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7200" y="2816352"/>
            <a:ext cx="4114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Rebuilt layouts for 1280px+ screens: wider containers, multi-column grids, larger typography scales, and refined spacing ratios.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800600" y="25146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52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Framer Motion Animations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800600" y="2816352"/>
            <a:ext cx="4114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scroll-triggered entrance animations to every section. Custom spring physics for stagger effects, blur fades, and slide-ins using Framer Motion.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457200" y="37033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52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Magnetic CTA Buttons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57200" y="4005072"/>
            <a:ext cx="4114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 custom CtaButton component with three layered effects: magnetic cursor pull (spring physics), shimmer light sweep on hover, and spring press on click.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4800600" y="37033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52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&amp; Accessibility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800600" y="4005072"/>
            <a:ext cx="4114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Cross-browser and cross-device testing. Implemented prefers-reduced-motion support — all animations disabled for users who opt out.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052A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0"/>
            <a:ext cx="2560320" cy="5143500"/>
          </a:xfrm>
          <a:prstGeom prst="rect">
            <a:avLst/>
          </a:prstGeom>
          <a:solidFill>
            <a:srgbClr val="003A74"/>
          </a:solidFill>
          <a:ln w="12700">
            <a:solidFill>
              <a:srgbClr val="003A7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64592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CF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Showcase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CF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Work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548640" y="283464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94B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zagrosia.ca — 8 pages, live in production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457200" cy="297180"/>
          </a:xfrm>
          <a:prstGeom prst="rect">
            <a:avLst/>
          </a:prstGeom>
          <a:solidFill>
            <a:srgbClr val="94B8DC"/>
          </a:solidFill>
          <a:ln w="12700">
            <a:solidFill>
              <a:srgbClr val="94B8DC"/>
            </a:solidFill>
            <a:prstDash val="solid"/>
          </a:ln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3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38160" y="164592"/>
            <a:ext cx="822960" cy="237744"/>
          </a:xfrm>
          <a:prstGeom prst="roundRect">
            <a:avLst>
              <a:gd name="adj" fmla="val 19231"/>
            </a:avLst>
          </a:prstGeom>
          <a:solidFill>
            <a:srgbClr val="0052A5"/>
          </a:solidFill>
          <a:ln w="12700">
            <a:solidFill>
              <a:srgbClr val="0052A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119872" y="146304"/>
            <a:ext cx="859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CF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365760" y="4846320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zagrosia.ca  •  BCIT New Media Design &amp; Web Development  •  July 2026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zagrosia.ca — At a Glance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1920240" cy="1645920"/>
          </a:xfrm>
          <a:prstGeom prst="roundRect">
            <a:avLst>
              <a:gd name="adj" fmla="val 6667"/>
            </a:avLst>
          </a:prstGeom>
          <a:solidFill>
            <a:srgbClr val="0052A5"/>
          </a:solidFill>
          <a:ln w="12700">
            <a:solidFill>
              <a:srgbClr val="0052A5"/>
            </a:solidFill>
            <a:prstDash val="solid"/>
          </a:ln>
          <a:effectLst>
            <a:outerShdw sx="100000" sy="100000" kx="0" ky="0" algn="bl" rotWithShape="0" blurRad="152400" dist="50800" dir="27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234440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CF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457200" y="1901952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CF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2212848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B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from scratch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606040" y="1097280"/>
            <a:ext cx="1920240" cy="1645920"/>
          </a:xfrm>
          <a:prstGeom prst="roundRect">
            <a:avLst>
              <a:gd name="adj" fmla="val 6667"/>
            </a:avLst>
          </a:prstGeom>
          <a:solidFill>
            <a:srgbClr val="0052A5"/>
          </a:solidFill>
          <a:ln w="12700">
            <a:solidFill>
              <a:srgbClr val="0052A5"/>
            </a:solidFill>
            <a:prstDash val="solid"/>
          </a:ln>
          <a:effectLst>
            <a:outerShdw sx="100000" sy="100000" kx="0" ky="0" algn="bl" rotWithShape="0" blurRad="152400" dist="50800" dir="27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606040" y="1234440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CF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35+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2606040" y="1901952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CF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606040" y="2212848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B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/ Next.js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754880" y="1097280"/>
            <a:ext cx="1920240" cy="1645920"/>
          </a:xfrm>
          <a:prstGeom prst="roundRect">
            <a:avLst>
              <a:gd name="adj" fmla="val 6667"/>
            </a:avLst>
          </a:prstGeom>
          <a:solidFill>
            <a:srgbClr val="0052A5"/>
          </a:solidFill>
          <a:ln w="12700">
            <a:solidFill>
              <a:srgbClr val="0052A5"/>
            </a:solidFill>
            <a:prstDash val="solid"/>
          </a:ln>
          <a:effectLst>
            <a:outerShdw sx="100000" sy="100000" kx="0" ky="0" algn="bl" rotWithShape="0" blurRad="152400" dist="50800" dir="27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754880" y="1234440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CF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4754880" y="1901952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CF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754880" y="2212848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B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Mobile-first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903720" y="1097280"/>
            <a:ext cx="1920240" cy="1645920"/>
          </a:xfrm>
          <a:prstGeom prst="roundRect">
            <a:avLst>
              <a:gd name="adj" fmla="val 6667"/>
            </a:avLst>
          </a:prstGeom>
          <a:solidFill>
            <a:srgbClr val="0052A5"/>
          </a:solidFill>
          <a:ln w="12700">
            <a:solidFill>
              <a:srgbClr val="0052A5"/>
            </a:solidFill>
            <a:prstDash val="solid"/>
          </a:ln>
          <a:effectLst>
            <a:outerShdw sx="100000" sy="100000" kx="0" ky="0" algn="bl" rotWithShape="0" blurRad="152400" dist="50800" dir="27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903720" y="1234440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CF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6903720" y="1901952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CF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903720" y="2212848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B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on Netlify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7200" y="2971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Structure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57200" y="3401568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52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755648" y="3401568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Hero, Stats, Services teaser, AI Lab, EGBC Prep, Blog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" y="3785616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52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755648" y="3785616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Company story, values, team, milestones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57200" y="4169664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52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755648" y="4169664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6 structural engineering services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57200" y="4553712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52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755648" y="4553712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Portfolio with filter by project type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800600" y="3401568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52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Lab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099048" y="3401568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AI &amp; automation tools and demos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800600" y="3785616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52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Academy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099048" y="3785616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EGBC Exam Prep with course cards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800600" y="4169664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52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Blog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099048" y="4169664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Engineering insights and updates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800600" y="4553712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52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099048" y="4553712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Contact form + company info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CFC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38160" y="164592"/>
            <a:ext cx="822960" cy="237744"/>
          </a:xfrm>
          <a:prstGeom prst="roundRect">
            <a:avLst>
              <a:gd name="adj" fmla="val 19231"/>
            </a:avLst>
          </a:prstGeom>
          <a:solidFill>
            <a:srgbClr val="0052A5"/>
          </a:solidFill>
          <a:ln w="12700">
            <a:solidFill>
              <a:srgbClr val="0052A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119872" y="146304"/>
            <a:ext cx="859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CF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365760" y="4846320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zagrosia.ca  •  BCIT New Media Design &amp; Web Development  •  July 2026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256032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Page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impression — animated hero, social proof, and all major platform sections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234440"/>
            <a:ext cx="8229600" cy="758952"/>
          </a:xfrm>
          <a:prstGeom prst="roundRect">
            <a:avLst>
              <a:gd name="adj" fmla="val 12048"/>
            </a:avLst>
          </a:prstGeom>
          <a:solidFill>
            <a:srgbClr val="F3F6FA"/>
          </a:solidFill>
          <a:ln w="12700">
            <a:solidFill>
              <a:srgbClr val="D1DC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85800" y="13258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52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 Section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337560" y="1325880"/>
            <a:ext cx="5166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Full-viewport hero with animated headline, "Engineered to Solve" tagline, and two magnetic CTA buttons. Background rotates between structural engineering imagery.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7200" y="2121408"/>
            <a:ext cx="8229600" cy="758952"/>
          </a:xfrm>
          <a:prstGeom prst="roundRect">
            <a:avLst>
              <a:gd name="adj" fmla="val 12048"/>
            </a:avLst>
          </a:prstGeom>
          <a:solidFill>
            <a:srgbClr val="F3F6FA"/>
          </a:solidFill>
          <a:ln w="12700">
            <a:solidFill>
              <a:srgbClr val="D1DC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85800" y="221284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52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Stats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337560" y="2212848"/>
            <a:ext cx="5166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35+ years, P.Eng BC/AB/SK credentials, project count — displayed as animated count-up numbers triggered on scroll.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57200" y="3008376"/>
            <a:ext cx="8229600" cy="758952"/>
          </a:xfrm>
          <a:prstGeom prst="roundRect">
            <a:avLst>
              <a:gd name="adj" fmla="val 12048"/>
            </a:avLst>
          </a:prstGeom>
          <a:solidFill>
            <a:srgbClr val="F3F6FA"/>
          </a:solidFill>
          <a:ln w="12700">
            <a:solidFill>
              <a:srgbClr val="D1DC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85800" y="309981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52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Lab Preview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337560" y="3099816"/>
            <a:ext cx="5166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Dark-themed section highlighting AI &amp; automation capabilities. 500+ videos, 150+ subjects in the AI education library.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57200" y="3895344"/>
            <a:ext cx="8229600" cy="758952"/>
          </a:xfrm>
          <a:prstGeom prst="roundRect">
            <a:avLst>
              <a:gd name="adj" fmla="val 12048"/>
            </a:avLst>
          </a:prstGeom>
          <a:solidFill>
            <a:srgbClr val="F3F6FA"/>
          </a:solidFill>
          <a:ln w="12700">
            <a:solidFill>
              <a:srgbClr val="D1DC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85800" y="398678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52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EGBC Exam Prep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337560" y="3986784"/>
            <a:ext cx="5166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Teaser for the Academy section — exam preparation platform for engineering licensure candidates in BC.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38160" y="164592"/>
            <a:ext cx="822960" cy="237744"/>
          </a:xfrm>
          <a:prstGeom prst="roundRect">
            <a:avLst>
              <a:gd name="adj" fmla="val 19231"/>
            </a:avLst>
          </a:prstGeom>
          <a:solidFill>
            <a:srgbClr val="0052A5"/>
          </a:solidFill>
          <a:ln w="12700">
            <a:solidFill>
              <a:srgbClr val="0052A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119872" y="146304"/>
            <a:ext cx="859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CF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365760" y="4846320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zagrosia.ca  •  BCIT New Media Design &amp; Web Development  •  July 2026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256032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CF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 Page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4B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structural engineering services — each with detailed capability descriptions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325880"/>
            <a:ext cx="2697480" cy="1508760"/>
          </a:xfrm>
          <a:prstGeom prst="roundRect">
            <a:avLst>
              <a:gd name="adj" fmla="val 6061"/>
            </a:avLst>
          </a:prstGeom>
          <a:solidFill>
            <a:srgbClr val="0052A5"/>
          </a:solidFill>
          <a:ln w="12700">
            <a:solidFill>
              <a:srgbClr val="0052A5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45389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94B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" y="1709928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CF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 Design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4360" y="2093976"/>
            <a:ext cx="2423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C8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Residential &amp; commercial building systems, foundations, lateral loads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355848" y="1325880"/>
            <a:ext cx="2697480" cy="1508760"/>
          </a:xfrm>
          <a:prstGeom prst="roundRect">
            <a:avLst>
              <a:gd name="adj" fmla="val 6061"/>
            </a:avLst>
          </a:prstGeom>
          <a:solidFill>
            <a:srgbClr val="0052A5"/>
          </a:solidFill>
          <a:ln w="12700">
            <a:solidFill>
              <a:srgbClr val="0052A5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493008" y="145389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94B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493008" y="1709928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CF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Seismic Assessment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493008" y="2093976"/>
            <a:ext cx="2423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C8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Seismic vulnerability studies and retrofit design per BC Building Code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254496" y="1325880"/>
            <a:ext cx="2697480" cy="1508760"/>
          </a:xfrm>
          <a:prstGeom prst="roundRect">
            <a:avLst>
              <a:gd name="adj" fmla="val 6061"/>
            </a:avLst>
          </a:prstGeom>
          <a:solidFill>
            <a:srgbClr val="0052A5"/>
          </a:solidFill>
          <a:ln w="12700">
            <a:solidFill>
              <a:srgbClr val="0052A5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391656" y="145389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94B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391656" y="1709928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CF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Rehabilitation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391656" y="2093976"/>
            <a:ext cx="2423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C8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 assessment, damage investigation, repair specifications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57200" y="3017520"/>
            <a:ext cx="2697480" cy="1508760"/>
          </a:xfrm>
          <a:prstGeom prst="roundRect">
            <a:avLst>
              <a:gd name="adj" fmla="val 6061"/>
            </a:avLst>
          </a:prstGeom>
          <a:solidFill>
            <a:srgbClr val="0052A5"/>
          </a:solidFill>
          <a:ln w="12700">
            <a:solidFill>
              <a:srgbClr val="0052A5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9436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94B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94360" y="3401568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CF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Racking Systems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94360" y="3785616"/>
            <a:ext cx="2423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C8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 racking and mezzanine structural review and stamp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355848" y="3017520"/>
            <a:ext cx="2697480" cy="1508760"/>
          </a:xfrm>
          <a:prstGeom prst="roundRect">
            <a:avLst>
              <a:gd name="adj" fmla="val 6061"/>
            </a:avLst>
          </a:prstGeom>
          <a:solidFill>
            <a:srgbClr val="0052A5"/>
          </a:solidFill>
          <a:ln w="12700">
            <a:solidFill>
              <a:srgbClr val="0052A5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493008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94B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493008" y="3401568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CF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Envelope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493008" y="3785616"/>
            <a:ext cx="2423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C8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Enclosure assessment, moisture investigations, cladding design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254496" y="3017520"/>
            <a:ext cx="2697480" cy="1508760"/>
          </a:xfrm>
          <a:prstGeom prst="roundRect">
            <a:avLst>
              <a:gd name="adj" fmla="val 6061"/>
            </a:avLst>
          </a:prstGeom>
          <a:solidFill>
            <a:srgbClr val="0052A5"/>
          </a:solidFill>
          <a:ln w="12700">
            <a:solidFill>
              <a:srgbClr val="0052A5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391656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94B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391656" y="3401568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CF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Specialty Reviews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391656" y="3785616"/>
            <a:ext cx="2423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C8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 review, letter of assurance, as-built review services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3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38160" y="164592"/>
            <a:ext cx="822960" cy="237744"/>
          </a:xfrm>
          <a:prstGeom prst="roundRect">
            <a:avLst>
              <a:gd name="adj" fmla="val 19231"/>
            </a:avLst>
          </a:prstGeom>
          <a:solidFill>
            <a:srgbClr val="0052A5"/>
          </a:solidFill>
          <a:ln w="12700">
            <a:solidFill>
              <a:srgbClr val="0052A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119872" y="146304"/>
            <a:ext cx="859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CF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365760" y="4846320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zagrosia.ca  •  BCIT New Media Design &amp; Web Development  •  July 2026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256032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 Portfolio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Showcasing real completed engineering projects with filterable card layout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280160"/>
            <a:ext cx="4114800" cy="1325880"/>
          </a:xfrm>
          <a:prstGeom prst="roundRect">
            <a:avLst>
              <a:gd name="adj" fmla="val 6897"/>
            </a:avLst>
          </a:prstGeom>
          <a:solidFill>
            <a:srgbClr val="FCFCFC"/>
          </a:solidFill>
          <a:ln w="12700">
            <a:solidFill>
              <a:srgbClr val="D1DCE8"/>
            </a:solidFill>
            <a:prstDash val="solid"/>
          </a:ln>
          <a:effectLst>
            <a:outerShdw sx="100000" sy="100000" kx="0" ky="0" algn="bl" rotWithShape="0" blurRad="152400" dist="50800" dir="27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0080" y="1426464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52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Layout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1755648"/>
            <a:ext cx="3749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project displayed as a rich card with project type, location, scope, and featured image.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800600" y="1280160"/>
            <a:ext cx="4114800" cy="1325880"/>
          </a:xfrm>
          <a:prstGeom prst="roundRect">
            <a:avLst>
              <a:gd name="adj" fmla="val 6897"/>
            </a:avLst>
          </a:prstGeom>
          <a:solidFill>
            <a:srgbClr val="FCFCFC"/>
          </a:solidFill>
          <a:ln w="12700">
            <a:solidFill>
              <a:srgbClr val="D1DCE8"/>
            </a:solidFill>
            <a:prstDash val="solid"/>
          </a:ln>
          <a:effectLst>
            <a:outerShdw sx="100000" sy="100000" kx="0" ky="0" algn="bl" rotWithShape="0" blurRad="152400" dist="50800" dir="27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983480" y="1426464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52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System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983480" y="1755648"/>
            <a:ext cx="3749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filter by project type — Residential, Commercial, Industrial, Seismic — for targeted browsing.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788920"/>
            <a:ext cx="4114800" cy="1325880"/>
          </a:xfrm>
          <a:prstGeom prst="roundRect">
            <a:avLst>
              <a:gd name="adj" fmla="val 6897"/>
            </a:avLst>
          </a:prstGeom>
          <a:solidFill>
            <a:srgbClr val="FCFCFC"/>
          </a:solidFill>
          <a:ln w="12700">
            <a:solidFill>
              <a:srgbClr val="D1DCE8"/>
            </a:solidFill>
            <a:prstDash val="solid"/>
          </a:ln>
          <a:effectLst>
            <a:outerShdw sx="100000" sy="100000" kx="0" ky="0" algn="bl" rotWithShape="0" blurRad="152400" dist="50800" dir="27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0080" y="2935224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52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Animations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" y="3264408"/>
            <a:ext cx="3749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Cards animate in with stagger effect on scroll. Hover reveals overlay with project details.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800600" y="2788920"/>
            <a:ext cx="4114800" cy="1325880"/>
          </a:xfrm>
          <a:prstGeom prst="roundRect">
            <a:avLst>
              <a:gd name="adj" fmla="val 6897"/>
            </a:avLst>
          </a:prstGeom>
          <a:solidFill>
            <a:srgbClr val="FCFCFC"/>
          </a:solidFill>
          <a:ln w="12700">
            <a:solidFill>
              <a:srgbClr val="D1DCE8"/>
            </a:solidFill>
            <a:prstDash val="solid"/>
          </a:ln>
          <a:effectLst>
            <a:outerShdw sx="100000" sy="100000" kx="0" ky="0" algn="bl" rotWithShape="0" blurRad="152400" dist="50800" dir="27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983480" y="2935224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52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Hero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983480" y="3264408"/>
            <a:ext cx="3749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hero section with animated stat callouts and project category breakdown.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38160" y="164592"/>
            <a:ext cx="822960" cy="237744"/>
          </a:xfrm>
          <a:prstGeom prst="roundRect">
            <a:avLst>
              <a:gd name="adj" fmla="val 19231"/>
            </a:avLst>
          </a:prstGeom>
          <a:solidFill>
            <a:srgbClr val="0052A5"/>
          </a:solidFill>
          <a:ln w="12700">
            <a:solidFill>
              <a:srgbClr val="0052A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119872" y="146304"/>
            <a:ext cx="859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CF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LAB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365760" y="4846320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zagrosia.ca  •  BCIT New Media Design &amp; Web Development  •  July 2026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256032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CF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&amp; Automation Lab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4B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structural engineering meets artificial intelligence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234440"/>
            <a:ext cx="2697480" cy="1417320"/>
          </a:xfrm>
          <a:prstGeom prst="roundRect">
            <a:avLst>
              <a:gd name="adj" fmla="val 7742"/>
            </a:avLst>
          </a:prstGeom>
          <a:solidFill>
            <a:srgbClr val="0052A5"/>
          </a:solidFill>
          <a:ln w="12700">
            <a:solidFill>
              <a:srgbClr val="0052A5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" y="1371600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CF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500+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457200" y="201168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B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Educational Videos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355848" y="1234440"/>
            <a:ext cx="2697480" cy="1417320"/>
          </a:xfrm>
          <a:prstGeom prst="roundRect">
            <a:avLst>
              <a:gd name="adj" fmla="val 7742"/>
            </a:avLst>
          </a:prstGeom>
          <a:solidFill>
            <a:srgbClr val="0052A5"/>
          </a:solidFill>
          <a:ln w="12700">
            <a:solidFill>
              <a:srgbClr val="0052A5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355848" y="1371600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CF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150+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3355848" y="201168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B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Subjects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54496" y="1234440"/>
            <a:ext cx="2697480" cy="1417320"/>
          </a:xfrm>
          <a:prstGeom prst="roundRect">
            <a:avLst>
              <a:gd name="adj" fmla="val 7742"/>
            </a:avLst>
          </a:prstGeom>
          <a:solidFill>
            <a:srgbClr val="0052A5"/>
          </a:solidFill>
          <a:ln w="12700">
            <a:solidFill>
              <a:srgbClr val="0052A5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254496" y="1371600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CF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200+</a:t>
            </a:r>
            <a:endParaRPr lang="en-US" sz="3800" dirty="0"/>
          </a:p>
        </p:txBody>
      </p:sp>
      <p:sp>
        <p:nvSpPr>
          <p:cNvPr id="15" name="Text 13"/>
          <p:cNvSpPr/>
          <p:nvPr/>
        </p:nvSpPr>
        <p:spPr>
          <a:xfrm>
            <a:off x="6254496" y="201168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B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Views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28803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100" kern="0" dirty="0">
                <a:solidFill>
                  <a:srgbClr val="94B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Capabilities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324612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200" dirty="0">
                <a:solidFill>
                  <a:srgbClr val="C8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Python scripts for structural calculation automation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361188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200" dirty="0">
                <a:solidFill>
                  <a:srgbClr val="C8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VBA macros for Excel-based engineering workflows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397764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200" dirty="0">
                <a:solidFill>
                  <a:srgbClr val="C8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educational platform for engineering topics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434340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200" dirty="0">
                <a:solidFill>
                  <a:srgbClr val="C8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demos for common engineering firm tasks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CFC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38160" y="164592"/>
            <a:ext cx="822960" cy="237744"/>
          </a:xfrm>
          <a:prstGeom prst="roundRect">
            <a:avLst>
              <a:gd name="adj" fmla="val 19231"/>
            </a:avLst>
          </a:prstGeom>
          <a:solidFill>
            <a:srgbClr val="0052A5"/>
          </a:solidFill>
          <a:ln w="12700">
            <a:solidFill>
              <a:srgbClr val="0052A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119872" y="146304"/>
            <a:ext cx="859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CF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ACADEMY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365760" y="4846320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zagrosia.ca  •  BCIT New Media Design &amp; Web Development  •  July 2026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256032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Academy — EGBC Exam Prep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structured learning platform for engineering candidates pursuing BC licensure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234440"/>
            <a:ext cx="4114800" cy="3383280"/>
          </a:xfrm>
          <a:prstGeom prst="roundRect">
            <a:avLst>
              <a:gd name="adj" fmla="val 3784"/>
            </a:avLst>
          </a:prstGeom>
          <a:solidFill>
            <a:srgbClr val="0052A5"/>
          </a:solidFill>
          <a:ln w="12700">
            <a:solidFill>
              <a:srgbClr val="0052A5"/>
            </a:solidFill>
            <a:prstDash val="solid"/>
          </a:ln>
          <a:effectLst>
            <a:outerShdw sx="100000" sy="100000" kx="0" ky="0" algn="bl" rotWithShape="0" blurRad="152400" dist="50800" dir="27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0080" y="141732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CF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Offers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187452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50" dirty="0">
                <a:solidFill>
                  <a:srgbClr val="D6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study roadmap for EGBC PPE exam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40080" y="2386584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50" dirty="0">
                <a:solidFill>
                  <a:srgbClr val="D6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lessons covering exam-critical concepts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40080" y="2898648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50" dirty="0">
                <a:solidFill>
                  <a:srgbClr val="D6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questions and self-assessment tools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40080" y="3410712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50" dirty="0">
                <a:solidFill>
                  <a:srgbClr val="D6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Downloadable resources and formula sheets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40080" y="3922776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50" dirty="0">
                <a:solidFill>
                  <a:srgbClr val="D6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tracking and study milestones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846320" y="12344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It's For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846320" y="1691640"/>
            <a:ext cx="3931920" cy="868680"/>
          </a:xfrm>
          <a:prstGeom prst="roundRect">
            <a:avLst>
              <a:gd name="adj" fmla="val 10526"/>
            </a:avLst>
          </a:prstGeom>
          <a:solidFill>
            <a:srgbClr val="F3F6FA"/>
          </a:solidFill>
          <a:ln w="12700">
            <a:solidFill>
              <a:srgbClr val="D1DC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029200" y="178308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52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Graduates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029200" y="2075688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Preparing for the BC PPE exam after completing their engineering degree.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846320" y="2697480"/>
            <a:ext cx="3931920" cy="868680"/>
          </a:xfrm>
          <a:prstGeom prst="roundRect">
            <a:avLst>
              <a:gd name="adj" fmla="val 10526"/>
            </a:avLst>
          </a:prstGeom>
          <a:solidFill>
            <a:srgbClr val="F3F6FA"/>
          </a:solidFill>
          <a:ln w="12700">
            <a:solidFill>
              <a:srgbClr val="D1DC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029200" y="278892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52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 Engineers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029200" y="3081528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Internationally trained engineers seeking BC licensure through EGBC.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846320" y="3703320"/>
            <a:ext cx="3931920" cy="868680"/>
          </a:xfrm>
          <a:prstGeom prst="roundRect">
            <a:avLst>
              <a:gd name="adj" fmla="val 10526"/>
            </a:avLst>
          </a:prstGeom>
          <a:solidFill>
            <a:srgbClr val="F3F6FA"/>
          </a:solidFill>
          <a:ln w="12700">
            <a:solidFill>
              <a:srgbClr val="D1DC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029200" y="379476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52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 Retakers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029200" y="4087368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Engineers who need to strengthen specific topic areas before retaking.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3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38160" y="164592"/>
            <a:ext cx="822960" cy="237744"/>
          </a:xfrm>
          <a:prstGeom prst="roundRect">
            <a:avLst>
              <a:gd name="adj" fmla="val 19231"/>
            </a:avLst>
          </a:prstGeom>
          <a:solidFill>
            <a:srgbClr val="0052A5"/>
          </a:solidFill>
          <a:ln w="12700">
            <a:solidFill>
              <a:srgbClr val="0052A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119872" y="146304"/>
            <a:ext cx="859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CF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PAGES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365760" y="4846320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zagrosia.ca  •  BCIT New Media Design &amp; Web Development  •  July 2026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256032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Blog, About &amp; Contact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2697480" cy="3566160"/>
          </a:xfrm>
          <a:prstGeom prst="roundRect">
            <a:avLst>
              <a:gd name="adj" fmla="val 4068"/>
            </a:avLst>
          </a:prstGeom>
          <a:solidFill>
            <a:srgbClr val="FCFCFC"/>
          </a:solidFill>
          <a:ln w="12700">
            <a:solidFill>
              <a:srgbClr val="D1DCE8"/>
            </a:solidFill>
            <a:prstDash val="solid"/>
          </a:ln>
          <a:effectLst>
            <a:outerShdw sx="100000" sy="100000" kx="0" ky="0" algn="bl" rotWithShape="0" blurRad="152400" dist="50800" dir="27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097280"/>
            <a:ext cx="2697480" cy="530352"/>
          </a:xfrm>
          <a:prstGeom prst="roundRect">
            <a:avLst>
              <a:gd name="adj" fmla="val 20690"/>
            </a:avLst>
          </a:prstGeom>
          <a:solidFill>
            <a:srgbClr val="0052A5"/>
          </a:solidFill>
          <a:ln w="12700">
            <a:solidFill>
              <a:srgbClr val="0052A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353312"/>
            <a:ext cx="2697480" cy="292608"/>
          </a:xfrm>
          <a:prstGeom prst="rect">
            <a:avLst/>
          </a:prstGeom>
          <a:solidFill>
            <a:srgbClr val="0052A5"/>
          </a:solidFill>
          <a:ln w="12700">
            <a:solidFill>
              <a:srgbClr val="0052A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133856"/>
            <a:ext cx="2423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CF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Blog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" y="17373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insights and firm updates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40080" y="2340864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Card-based layout with category tags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40080" y="2944368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Hover animations with read-more CTA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40080" y="3547872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SEO-optimized metadata per post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355848" y="1097280"/>
            <a:ext cx="2697480" cy="3566160"/>
          </a:xfrm>
          <a:prstGeom prst="roundRect">
            <a:avLst>
              <a:gd name="adj" fmla="val 4068"/>
            </a:avLst>
          </a:prstGeom>
          <a:solidFill>
            <a:srgbClr val="FCFCFC"/>
          </a:solidFill>
          <a:ln w="12700">
            <a:solidFill>
              <a:srgbClr val="D1DCE8"/>
            </a:solidFill>
            <a:prstDash val="solid"/>
          </a:ln>
          <a:effectLst>
            <a:outerShdw sx="100000" sy="100000" kx="0" ky="0" algn="bl" rotWithShape="0" blurRad="152400" dist="50800" dir="27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355848" y="1097280"/>
            <a:ext cx="2697480" cy="530352"/>
          </a:xfrm>
          <a:prstGeom prst="roundRect">
            <a:avLst>
              <a:gd name="adj" fmla="val 20690"/>
            </a:avLst>
          </a:prstGeom>
          <a:solidFill>
            <a:srgbClr val="0052A5"/>
          </a:solidFill>
          <a:ln w="12700">
            <a:solidFill>
              <a:srgbClr val="0052A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355848" y="1353312"/>
            <a:ext cx="2697480" cy="292608"/>
          </a:xfrm>
          <a:prstGeom prst="rect">
            <a:avLst/>
          </a:prstGeom>
          <a:solidFill>
            <a:srgbClr val="0052A5"/>
          </a:solidFill>
          <a:ln w="12700">
            <a:solidFill>
              <a:srgbClr val="0052A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93008" y="1133856"/>
            <a:ext cx="2423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CF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538728" y="17373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story and 35+ year history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3538728" y="2340864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Desktop: split two-column layout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3538728" y="2944368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Mobile: stacked with scroll reveals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3538728" y="3547872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section and values statement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254496" y="1097280"/>
            <a:ext cx="2697480" cy="3566160"/>
          </a:xfrm>
          <a:prstGeom prst="roundRect">
            <a:avLst>
              <a:gd name="adj" fmla="val 4068"/>
            </a:avLst>
          </a:prstGeom>
          <a:solidFill>
            <a:srgbClr val="FCFCFC"/>
          </a:solidFill>
          <a:ln w="12700">
            <a:solidFill>
              <a:srgbClr val="D1DCE8"/>
            </a:solidFill>
            <a:prstDash val="solid"/>
          </a:ln>
          <a:effectLst>
            <a:outerShdw sx="100000" sy="100000" kx="0" ky="0" algn="bl" rotWithShape="0" blurRad="152400" dist="50800" dir="27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254496" y="1097280"/>
            <a:ext cx="2697480" cy="530352"/>
          </a:xfrm>
          <a:prstGeom prst="roundRect">
            <a:avLst>
              <a:gd name="adj" fmla="val 20690"/>
            </a:avLst>
          </a:prstGeom>
          <a:solidFill>
            <a:srgbClr val="0052A5"/>
          </a:solidFill>
          <a:ln w="12700">
            <a:solidFill>
              <a:srgbClr val="0052A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254496" y="1353312"/>
            <a:ext cx="2697480" cy="292608"/>
          </a:xfrm>
          <a:prstGeom prst="rect">
            <a:avLst/>
          </a:prstGeom>
          <a:solidFill>
            <a:srgbClr val="0052A5"/>
          </a:solidFill>
          <a:ln w="12700">
            <a:solidFill>
              <a:srgbClr val="0052A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91656" y="1133856"/>
            <a:ext cx="2423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CF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437376" y="17373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Animated contact form (validated)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6437376" y="2340864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phone, email, and address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6437376" y="2944368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Magnetic CTA submit button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6437376" y="3547872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Success/error state feedback</a:t>
            </a:r>
            <a:endParaRPr lang="en-US" sz="11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38160" y="164592"/>
            <a:ext cx="822960" cy="237744"/>
          </a:xfrm>
          <a:prstGeom prst="roundRect">
            <a:avLst>
              <a:gd name="adj" fmla="val 19231"/>
            </a:avLst>
          </a:prstGeom>
          <a:solidFill>
            <a:srgbClr val="0052A5"/>
          </a:solidFill>
          <a:ln w="12700">
            <a:solidFill>
              <a:srgbClr val="0052A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119872" y="146304"/>
            <a:ext cx="859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CF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365760" y="4846320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zagrosia.ca  •  BCIT New Media Design &amp; Web Development  •  July 2026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256032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CF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4B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tool chosen for a reason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261872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94B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1581912"/>
            <a:ext cx="2697480" cy="566928"/>
          </a:xfrm>
          <a:prstGeom prst="roundRect">
            <a:avLst>
              <a:gd name="adj" fmla="val 12903"/>
            </a:avLst>
          </a:prstGeom>
          <a:solidFill>
            <a:srgbClr val="0052A5"/>
          </a:solidFill>
          <a:ln w="12700">
            <a:solidFill>
              <a:srgbClr val="0052A5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94360" y="1655064"/>
            <a:ext cx="2423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CF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15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94360" y="1901952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4B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Router, SSR, file-based routing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57200" y="2240280"/>
            <a:ext cx="2697480" cy="566928"/>
          </a:xfrm>
          <a:prstGeom prst="roundRect">
            <a:avLst>
              <a:gd name="adj" fmla="val 12903"/>
            </a:avLst>
          </a:prstGeom>
          <a:solidFill>
            <a:srgbClr val="0052A5"/>
          </a:solidFill>
          <a:ln w="12700">
            <a:solidFill>
              <a:srgbClr val="0052A5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2313432"/>
            <a:ext cx="2423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CF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94360" y="2560320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4B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safety across all components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355848" y="1261872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94B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STYLING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355848" y="1581912"/>
            <a:ext cx="2697480" cy="566928"/>
          </a:xfrm>
          <a:prstGeom prst="roundRect">
            <a:avLst>
              <a:gd name="adj" fmla="val 12903"/>
            </a:avLst>
          </a:prstGeom>
          <a:solidFill>
            <a:srgbClr val="0052A5"/>
          </a:solidFill>
          <a:ln w="12700">
            <a:solidFill>
              <a:srgbClr val="0052A5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493008" y="1655064"/>
            <a:ext cx="2423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CF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493008" y="1901952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4B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Utility-first, mobile-first design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355848" y="2240280"/>
            <a:ext cx="2697480" cy="566928"/>
          </a:xfrm>
          <a:prstGeom prst="roundRect">
            <a:avLst>
              <a:gd name="adj" fmla="val 12903"/>
            </a:avLst>
          </a:prstGeom>
          <a:solidFill>
            <a:srgbClr val="0052A5"/>
          </a:solidFill>
          <a:ln w="12700">
            <a:solidFill>
              <a:srgbClr val="0052A5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93008" y="2313432"/>
            <a:ext cx="2423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CF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Framer Motion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493008" y="2560320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4B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Physics-based scroll animations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254496" y="1261872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94B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254496" y="1581912"/>
            <a:ext cx="2697480" cy="566928"/>
          </a:xfrm>
          <a:prstGeom prst="roundRect">
            <a:avLst>
              <a:gd name="adj" fmla="val 12903"/>
            </a:avLst>
          </a:prstGeom>
          <a:solidFill>
            <a:srgbClr val="0052A5"/>
          </a:solidFill>
          <a:ln w="12700">
            <a:solidFill>
              <a:srgbClr val="0052A5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391656" y="1655064"/>
            <a:ext cx="2423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CF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Figma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391656" y="1901952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4B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design system + prototypes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254496" y="2240280"/>
            <a:ext cx="2697480" cy="566928"/>
          </a:xfrm>
          <a:prstGeom prst="roundRect">
            <a:avLst>
              <a:gd name="adj" fmla="val 12903"/>
            </a:avLst>
          </a:prstGeom>
          <a:solidFill>
            <a:srgbClr val="0052A5"/>
          </a:solidFill>
          <a:ln w="12700">
            <a:solidFill>
              <a:srgbClr val="0052A5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391656" y="2313432"/>
            <a:ext cx="2423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CF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Icons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391656" y="2560320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4B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iconography across pages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57200" y="2999232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94B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57200" y="3319272"/>
            <a:ext cx="2697480" cy="566928"/>
          </a:xfrm>
          <a:prstGeom prst="roundRect">
            <a:avLst>
              <a:gd name="adj" fmla="val 12903"/>
            </a:avLst>
          </a:prstGeom>
          <a:solidFill>
            <a:srgbClr val="0052A5"/>
          </a:solidFill>
          <a:ln w="12700">
            <a:solidFill>
              <a:srgbClr val="0052A5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594360" y="3392424"/>
            <a:ext cx="2423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CF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94360" y="3639312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4B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control, CI/CD trigger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57200" y="3977640"/>
            <a:ext cx="2697480" cy="566928"/>
          </a:xfrm>
          <a:prstGeom prst="roundRect">
            <a:avLst>
              <a:gd name="adj" fmla="val 12903"/>
            </a:avLst>
          </a:prstGeom>
          <a:solidFill>
            <a:srgbClr val="0052A5"/>
          </a:solidFill>
          <a:ln w="12700">
            <a:solidFill>
              <a:srgbClr val="0052A5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594360" y="4050792"/>
            <a:ext cx="2423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CF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Netlify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94360" y="4297680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4B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Auto-deploy on push to main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3355848" y="2999232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94B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TOOLS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3355848" y="3319272"/>
            <a:ext cx="2697480" cy="566928"/>
          </a:xfrm>
          <a:prstGeom prst="roundRect">
            <a:avLst>
              <a:gd name="adj" fmla="val 12903"/>
            </a:avLst>
          </a:prstGeom>
          <a:solidFill>
            <a:srgbClr val="0052A5"/>
          </a:solidFill>
          <a:ln w="12700">
            <a:solidFill>
              <a:srgbClr val="0052A5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3493008" y="3392424"/>
            <a:ext cx="2423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CF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Codex / Claude Code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3493008" y="3639312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4B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development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3355848" y="3977640"/>
            <a:ext cx="2697480" cy="566928"/>
          </a:xfrm>
          <a:prstGeom prst="roundRect">
            <a:avLst>
              <a:gd name="adj" fmla="val 12903"/>
            </a:avLst>
          </a:prstGeom>
          <a:solidFill>
            <a:srgbClr val="0052A5"/>
          </a:solidFill>
          <a:ln w="12700">
            <a:solidFill>
              <a:srgbClr val="0052A5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3493008" y="4050792"/>
            <a:ext cx="2423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CF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V0 by Vercel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3493008" y="4297680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4B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component generation</a:t>
            </a:r>
            <a:endParaRPr lang="en-US" sz="9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CFC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38160" y="164592"/>
            <a:ext cx="822960" cy="237744"/>
          </a:xfrm>
          <a:prstGeom prst="roundRect">
            <a:avLst>
              <a:gd name="adj" fmla="val 19231"/>
            </a:avLst>
          </a:prstGeom>
          <a:solidFill>
            <a:srgbClr val="0052A5"/>
          </a:solidFill>
          <a:ln w="12700">
            <a:solidFill>
              <a:srgbClr val="0052A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119872" y="146304"/>
            <a:ext cx="859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CF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ANIMATION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365760" y="4846320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zagrosia.ca  •  BCIT New Media Design &amp; Web Development  •  July 2026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256032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 Animations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interactions that make zagrosia.ca feel alive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261872"/>
            <a:ext cx="4114800" cy="1481328"/>
          </a:xfrm>
          <a:prstGeom prst="roundRect">
            <a:avLst>
              <a:gd name="adj" fmla="val 6173"/>
            </a:avLst>
          </a:prstGeom>
          <a:solidFill>
            <a:srgbClr val="F3F6FA"/>
          </a:solidFill>
          <a:ln w="12700">
            <a:solidFill>
              <a:srgbClr val="D1DCE8"/>
            </a:solidFill>
            <a:prstDash val="solid"/>
          </a:ln>
          <a:effectLst>
            <a:outerShdw sx="100000" sy="100000" kx="0" ky="0" algn="bl" rotWithShape="0" blurRad="152400" dist="50800" dir="27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0080" y="138988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Scroll-Triggered Reveals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1673352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0052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Framer Motion · whileInView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1920240"/>
            <a:ext cx="3749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section animates in as it enters the viewport. Four effects: fade-up, fade-left, blur-in, and scale-up. Staggered delays create a cascade that guides the eye down the page.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800600" y="1261872"/>
            <a:ext cx="4114800" cy="1481328"/>
          </a:xfrm>
          <a:prstGeom prst="roundRect">
            <a:avLst>
              <a:gd name="adj" fmla="val 6173"/>
            </a:avLst>
          </a:prstGeom>
          <a:solidFill>
            <a:srgbClr val="F3F6FA"/>
          </a:solidFill>
          <a:ln w="12700">
            <a:solidFill>
              <a:srgbClr val="D1DCE8"/>
            </a:solidFill>
            <a:prstDash val="solid"/>
          </a:ln>
          <a:effectLst>
            <a:outerShdw sx="100000" sy="100000" kx="0" ky="0" algn="bl" rotWithShape="0" blurRad="152400" dist="50800" dir="27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983480" y="138988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Magnetic CTA Buttons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983480" y="1673352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0052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useMotionValue · useSpring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983480" y="1920240"/>
            <a:ext cx="3749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Buttons drift toward the cursor using spring physics. On hover, a light shimmer sweeps diagonally across. On click, the button springs down to 93% scale and bounces back — like pressing a physical button.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2889504"/>
            <a:ext cx="4114800" cy="1481328"/>
          </a:xfrm>
          <a:prstGeom prst="roundRect">
            <a:avLst>
              <a:gd name="adj" fmla="val 6173"/>
            </a:avLst>
          </a:prstGeom>
          <a:solidFill>
            <a:srgbClr val="F3F6FA"/>
          </a:solidFill>
          <a:ln w="12700">
            <a:solidFill>
              <a:srgbClr val="D1DCE8"/>
            </a:solidFill>
            <a:prstDash val="solid"/>
          </a:ln>
          <a:effectLst>
            <a:outerShdw sx="100000" sy="100000" kx="0" ky="0" algn="bl" rotWithShape="0" blurRad="152400" dist="50800" dir="27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40080" y="30175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Count-Up Numbers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" y="3300984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0052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useInView · requestAnimationFrame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40080" y="3547872"/>
            <a:ext cx="3749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Statistics (35+ years, 500+ videos) count up from zero when scrolled into view. Each number has its own duration and triggers only once — reinforcing the credibility of each claim.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800600" y="2889504"/>
            <a:ext cx="4114800" cy="1481328"/>
          </a:xfrm>
          <a:prstGeom prst="roundRect">
            <a:avLst>
              <a:gd name="adj" fmla="val 6173"/>
            </a:avLst>
          </a:prstGeom>
          <a:solidFill>
            <a:srgbClr val="F3F6FA"/>
          </a:solidFill>
          <a:ln w="12700">
            <a:solidFill>
              <a:srgbClr val="D1DCE8"/>
            </a:solidFill>
            <a:prstDash val="solid"/>
          </a:ln>
          <a:effectLst>
            <a:outerShdw sx="100000" sy="100000" kx="0" ky="0" algn="bl" rotWithShape="0" blurRad="152400" dist="50800" dir="27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983480" y="30175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Accessibility First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983480" y="3300984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0052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useReducedMotion()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983480" y="3547872"/>
            <a:ext cx="3749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animations check prefers-reduced-motion. If the OS accessibility setting is on, every animation silently disables — same components, zero motion. Inclusivity built in at the component level.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38160" y="164592"/>
            <a:ext cx="822960" cy="237744"/>
          </a:xfrm>
          <a:prstGeom prst="roundRect">
            <a:avLst>
              <a:gd name="adj" fmla="val 19231"/>
            </a:avLst>
          </a:prstGeom>
          <a:solidFill>
            <a:srgbClr val="0052A5"/>
          </a:solidFill>
          <a:ln w="12700">
            <a:solidFill>
              <a:srgbClr val="0052A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119872" y="146304"/>
            <a:ext cx="859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CF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365760" y="4846320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zagrosia.ca  •  BCIT New Media Design &amp; Web Development  •  July 2026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256032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CF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System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4B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Farnaz — the visual foundation that makes every page consistent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26187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94B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 PALETTE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1591056"/>
            <a:ext cx="1920240" cy="594360"/>
          </a:xfrm>
          <a:prstGeom prst="roundRect">
            <a:avLst>
              <a:gd name="adj" fmla="val 12308"/>
            </a:avLst>
          </a:prstGeom>
          <a:solidFill>
            <a:srgbClr val="0052A5"/>
          </a:solidFill>
          <a:ln w="12700">
            <a:solidFill>
              <a:srgbClr val="0052A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24028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CF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#0052A5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57200" y="2487168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8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Navy — Primary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606040" y="1591056"/>
            <a:ext cx="1920240" cy="594360"/>
          </a:xfrm>
          <a:prstGeom prst="roundRect">
            <a:avLst>
              <a:gd name="adj" fmla="val 12308"/>
            </a:avLst>
          </a:prstGeom>
          <a:solidFill>
            <a:srgbClr val="FCFCFC"/>
          </a:solidFill>
          <a:ln w="12700">
            <a:solidFill>
              <a:srgbClr val="FCFCF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06040" y="224028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CF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#FCFCFC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606040" y="2487168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8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 — Background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754880" y="1591056"/>
            <a:ext cx="1920240" cy="594360"/>
          </a:xfrm>
          <a:prstGeom prst="roundRect">
            <a:avLst>
              <a:gd name="adj" fmla="val 12308"/>
            </a:avLst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0" y="224028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CF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#0D0D0D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754880" y="2487168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8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 — Dark sections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903720" y="1591056"/>
            <a:ext cx="1920240" cy="594360"/>
          </a:xfrm>
          <a:prstGeom prst="roundRect">
            <a:avLst>
              <a:gd name="adj" fmla="val 12308"/>
            </a:avLst>
          </a:prstGeom>
          <a:solidFill>
            <a:srgbClr val="94B8DC"/>
          </a:solidFill>
          <a:ln w="12700">
            <a:solidFill>
              <a:srgbClr val="94B8D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903720" y="224028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CF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#94B8DC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903720" y="2487168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8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 — Accent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57200" y="290779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94B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TYPOGRAPHY</a:t>
            </a:r>
            <a:endParaRPr lang="en-US" sz="9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200400"/>
          <a:ext cx="8229600" cy="1600200"/>
        </p:xfrm>
        <a:graphic>
          <a:graphicData uri="http://schemas.openxmlformats.org/drawingml/2006/table">
            <a:tbl>
              <a:tblPr/>
              <a:tblGrid>
                <a:gridCol w="2011680"/>
                <a:gridCol w="1828800"/>
                <a:gridCol w="2103120"/>
                <a:gridCol w="228600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CF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2A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CF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Size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2A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CF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Weight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2A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CF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Used For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2A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CF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Display / H1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C8D6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40–52px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C8D6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 500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C8D6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Hero headlines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CF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Section / H2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C8D6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24–32px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C8D6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Normal 400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C8D6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Section titles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CF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Body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C8D6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12–16px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C8D6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Regular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C8D6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Content paragraphs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FCF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Caption / Label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C8D6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8–11px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C8D6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Light · tracking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C8D6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Tags, metadata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D6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052A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0"/>
            <a:ext cx="2560320" cy="5143500"/>
          </a:xfrm>
          <a:prstGeom prst="rect">
            <a:avLst/>
          </a:prstGeom>
          <a:solidFill>
            <a:srgbClr val="003A74"/>
          </a:solidFill>
          <a:ln w="12700">
            <a:solidFill>
              <a:srgbClr val="003A7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64592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CF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CF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548640" y="283464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94B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skills, collaboration, and real-world growth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457200" cy="297180"/>
          </a:xfrm>
          <a:prstGeom prst="rect">
            <a:avLst/>
          </a:prstGeom>
          <a:solidFill>
            <a:srgbClr val="94B8DC"/>
          </a:solidFill>
          <a:ln w="12700">
            <a:solidFill>
              <a:srgbClr val="94B8DC"/>
            </a:solidFill>
            <a:prstDash val="solid"/>
          </a:ln>
        </p:spPr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CFC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38160" y="164592"/>
            <a:ext cx="822960" cy="237744"/>
          </a:xfrm>
          <a:prstGeom prst="roundRect">
            <a:avLst>
              <a:gd name="adj" fmla="val 19231"/>
            </a:avLst>
          </a:prstGeom>
          <a:solidFill>
            <a:srgbClr val="0052A5"/>
          </a:solidFill>
          <a:ln w="12700">
            <a:solidFill>
              <a:srgbClr val="0052A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119872" y="146304"/>
            <a:ext cx="859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CF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MORSAL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365760" y="4846320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zagrosia.ca  •  BCIT New Media Design &amp; Web Development  •  July 2026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256032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Growth — Morsal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9601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52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15 App Router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926080" y="960120"/>
            <a:ext cx="5760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 production app using the full App Router paradigm — server vs client components, route groups, metadata API, and image optimization. Not just following tutorials: architecting real pages.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709928"/>
            <a:ext cx="82296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72821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52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 in Practice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926080" y="1728216"/>
            <a:ext cx="5760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Went from avoiding TypeScript to relying on it. Interfaces, union types, and type guards caught real bugs before they hit production. Type safety became a workflow, not a chore.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478024"/>
            <a:ext cx="82296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49631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52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 a Development Tool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926080" y="2496312"/>
            <a:ext cx="5760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 to use Codex, Claude Code, and V0 as precision instruments — not magic. The skill is knowing what to prompt, how to evaluate the output, and when to throw it away.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246120"/>
            <a:ext cx="82296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26440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52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&amp; CI/CD Pipeline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926080" y="3264408"/>
            <a:ext cx="5760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the full GitHub → Netlify deployment pipeline. Diagnosed and fixed real deployment failures (pnpm lockfile conflicts, plugin config). Production-level DevOps, not sandbox practice.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4014216"/>
            <a:ext cx="82296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403250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52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Animation with Framer Motion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926080" y="4032504"/>
            <a:ext cx="5760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 spring physics, scroll triggers, and gesture-based animations from scratch. Built the custom CtaButton component with three layered motion effects and full accessibility support.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3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38160" y="164592"/>
            <a:ext cx="822960" cy="237744"/>
          </a:xfrm>
          <a:prstGeom prst="roundRect">
            <a:avLst>
              <a:gd name="adj" fmla="val 19231"/>
            </a:avLst>
          </a:prstGeom>
          <a:solidFill>
            <a:srgbClr val="0052A5"/>
          </a:solidFill>
          <a:ln w="12700">
            <a:solidFill>
              <a:srgbClr val="0052A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119872" y="146304"/>
            <a:ext cx="859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CF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FARNAZ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365760" y="4846320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zagrosia.ca  •  BCIT New Media Design &amp; Web Development  •  July 2026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256032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Growth — Farnaz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384048" y="941832"/>
            <a:ext cx="201168" cy="292608"/>
          </a:xfrm>
          <a:prstGeom prst="roundRect">
            <a:avLst>
              <a:gd name="adj" fmla="val 27273"/>
            </a:avLst>
          </a:prstGeom>
          <a:solidFill>
            <a:srgbClr val="0052A5"/>
          </a:solidFill>
          <a:ln w="12700">
            <a:solidFill>
              <a:srgbClr val="0052A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" y="9601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52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Research-Driven Design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926080" y="960120"/>
            <a:ext cx="5760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 to validate every design decision with research — competitor analysis, user flows, and sitemap logic before a single frame was opened in Figma. Design without research is guesswork.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709928"/>
            <a:ext cx="8229600" cy="0"/>
          </a:xfrm>
          <a:prstGeom prst="line">
            <a:avLst/>
          </a:prstGeom>
          <a:noFill/>
          <a:ln w="9525">
            <a:solidFill>
              <a:srgbClr val="D1DC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84048" y="1709928"/>
            <a:ext cx="201168" cy="292608"/>
          </a:xfrm>
          <a:prstGeom prst="roundRect">
            <a:avLst>
              <a:gd name="adj" fmla="val 27273"/>
            </a:avLst>
          </a:prstGeom>
          <a:solidFill>
            <a:srgbClr val="0052A5"/>
          </a:solidFill>
          <a:ln w="12700">
            <a:solidFill>
              <a:srgbClr val="0052A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172821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52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Figma Prototyping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926080" y="1728216"/>
            <a:ext cx="5760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prototype techniques: interactive components, smart animate transitions, and reusable design tokens. The client could click through the prototype as if it were a real website.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478024"/>
            <a:ext cx="8229600" cy="0"/>
          </a:xfrm>
          <a:prstGeom prst="line">
            <a:avLst/>
          </a:prstGeom>
          <a:noFill/>
          <a:ln w="9525">
            <a:solidFill>
              <a:srgbClr val="D1DCE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84048" y="2478024"/>
            <a:ext cx="201168" cy="292608"/>
          </a:xfrm>
          <a:prstGeom prst="roundRect">
            <a:avLst>
              <a:gd name="adj" fmla="val 27273"/>
            </a:avLst>
          </a:prstGeom>
          <a:solidFill>
            <a:srgbClr val="0052A5"/>
          </a:solidFill>
          <a:ln w="12700">
            <a:solidFill>
              <a:srgbClr val="0052A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9808" y="249631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52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Communication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926080" y="2496312"/>
            <a:ext cx="5760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Presenting design work to a real client is different from a school critique. Learned to frame decisions in business terms — and to listen for the real need behind feedback.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246120"/>
            <a:ext cx="8229600" cy="0"/>
          </a:xfrm>
          <a:prstGeom prst="line">
            <a:avLst/>
          </a:prstGeom>
          <a:noFill/>
          <a:ln w="9525">
            <a:solidFill>
              <a:srgbClr val="D1DCE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84048" y="3246120"/>
            <a:ext cx="201168" cy="292608"/>
          </a:xfrm>
          <a:prstGeom prst="roundRect">
            <a:avLst>
              <a:gd name="adj" fmla="val 27273"/>
            </a:avLst>
          </a:prstGeom>
          <a:solidFill>
            <a:srgbClr val="0052A5"/>
          </a:solidFill>
          <a:ln w="12700">
            <a:solidFill>
              <a:srgbClr val="0052A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9808" y="326440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52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Design Principles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926080" y="3264408"/>
            <a:ext cx="5760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for mobile first, then adapted to desktop. Maintaining visual hierarchy across breakpoints requires a systematic approach to spacing and type scale.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4014216"/>
            <a:ext cx="8229600" cy="0"/>
          </a:xfrm>
          <a:prstGeom prst="line">
            <a:avLst/>
          </a:prstGeom>
          <a:noFill/>
          <a:ln w="9525">
            <a:solidFill>
              <a:srgbClr val="D1DCE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84048" y="4014216"/>
            <a:ext cx="201168" cy="292608"/>
          </a:xfrm>
          <a:prstGeom prst="roundRect">
            <a:avLst>
              <a:gd name="adj" fmla="val 27273"/>
            </a:avLst>
          </a:prstGeom>
          <a:solidFill>
            <a:srgbClr val="0052A5"/>
          </a:solidFill>
          <a:ln w="12700">
            <a:solidFill>
              <a:srgbClr val="0052A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49808" y="403250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52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Design-to-Dev Handoff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926080" y="4032504"/>
            <a:ext cx="5760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directly with Morsal to ensure designs were implementable. Tighter collaboration produces better outcomes than a clean handoff.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38160" y="164592"/>
            <a:ext cx="822960" cy="237744"/>
          </a:xfrm>
          <a:prstGeom prst="roundRect">
            <a:avLst>
              <a:gd name="adj" fmla="val 19231"/>
            </a:avLst>
          </a:prstGeom>
          <a:solidFill>
            <a:srgbClr val="0052A5"/>
          </a:solidFill>
          <a:ln w="12700">
            <a:solidFill>
              <a:srgbClr val="0052A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119872" y="146304"/>
            <a:ext cx="859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CF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COLLABORATION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365760" y="4846320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zagrosia.ca  •  BCIT New Media Design &amp; Web Development  •  July 2026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256032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CF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Designer + Developer Collaboration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4B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learned from working together on a real product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11480" y="1417320"/>
            <a:ext cx="1920240" cy="1234440"/>
          </a:xfrm>
          <a:prstGeom prst="roundRect">
            <a:avLst>
              <a:gd name="adj" fmla="val 7407"/>
            </a:avLst>
          </a:prstGeom>
          <a:solidFill>
            <a:srgbClr val="0052A5"/>
          </a:solidFill>
          <a:ln w="12700">
            <a:solidFill>
              <a:srgbClr val="0052A5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1536192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CF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&amp;</a:t>
            </a:r>
            <a:endParaRPr lang="en-US" sz="12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CF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Wireframes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2340864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B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Farnaz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331720" y="2029968"/>
            <a:ext cx="256032" cy="0"/>
          </a:xfrm>
          <a:prstGeom prst="line">
            <a:avLst/>
          </a:prstGeom>
          <a:noFill/>
          <a:ln w="25400">
            <a:solidFill>
              <a:srgbClr val="94B8D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587752" y="1417320"/>
            <a:ext cx="1920240" cy="1234440"/>
          </a:xfrm>
          <a:prstGeom prst="roundRect">
            <a:avLst>
              <a:gd name="adj" fmla="val 7407"/>
            </a:avLst>
          </a:prstGeom>
          <a:solidFill>
            <a:srgbClr val="0052A5"/>
          </a:solidFill>
          <a:ln w="12700">
            <a:solidFill>
              <a:srgbClr val="0052A5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679192" y="1536192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CF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Hi-Fi Prototype</a:t>
            </a:r>
            <a:endParaRPr lang="en-US" sz="12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CF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Client Review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679192" y="2340864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B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507992" y="2029968"/>
            <a:ext cx="256032" cy="0"/>
          </a:xfrm>
          <a:prstGeom prst="line">
            <a:avLst/>
          </a:prstGeom>
          <a:noFill/>
          <a:ln w="25400">
            <a:solidFill>
              <a:srgbClr val="94B8D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64024" y="1417320"/>
            <a:ext cx="1920240" cy="1234440"/>
          </a:xfrm>
          <a:prstGeom prst="roundRect">
            <a:avLst>
              <a:gd name="adj" fmla="val 7407"/>
            </a:avLst>
          </a:prstGeom>
          <a:solidFill>
            <a:srgbClr val="0052A5"/>
          </a:solidFill>
          <a:ln w="12700">
            <a:solidFill>
              <a:srgbClr val="0052A5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855464" y="1536192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CF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</a:t>
            </a:r>
            <a:endParaRPr lang="en-US" sz="12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CF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Animation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55464" y="2340864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B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Morsal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684264" y="2029968"/>
            <a:ext cx="256032" cy="0"/>
          </a:xfrm>
          <a:prstGeom prst="line">
            <a:avLst/>
          </a:prstGeom>
          <a:noFill/>
          <a:ln w="25400">
            <a:solidFill>
              <a:srgbClr val="94B8D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940296" y="1417320"/>
            <a:ext cx="1920240" cy="1234440"/>
          </a:xfrm>
          <a:prstGeom prst="roundRect">
            <a:avLst>
              <a:gd name="adj" fmla="val 7407"/>
            </a:avLst>
          </a:prstGeom>
          <a:solidFill>
            <a:srgbClr val="0052A5"/>
          </a:solidFill>
          <a:ln w="12700">
            <a:solidFill>
              <a:srgbClr val="0052A5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031736" y="1536192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CF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&amp; Launch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031736" y="2340864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B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57200" y="290779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94B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surprised us: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2743200" y="29077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8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decisions that seem obvious in Figma are often the hardest to implement — and implementing them reveals better alternatives.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57200" y="356616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94B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Biggest challenge: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2743200" y="3566160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8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Keeping design and code in sync across 9 weeks without a formal handoff tool. We solved it with frequent syncs and shared Figma access.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457200" y="422452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94B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we'd do differently: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2743200" y="4224528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8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 a component library in Figma that maps 1:1 to the React components from the start. Naming mismatches caused friction mid-project.</a:t>
            </a:r>
            <a:endParaRPr lang="en-US" sz="11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CFC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38160" y="164592"/>
            <a:ext cx="822960" cy="237744"/>
          </a:xfrm>
          <a:prstGeom prst="roundRect">
            <a:avLst>
              <a:gd name="adj" fmla="val 19231"/>
            </a:avLst>
          </a:prstGeom>
          <a:solidFill>
            <a:srgbClr val="0052A5"/>
          </a:solidFill>
          <a:ln w="12700">
            <a:solidFill>
              <a:srgbClr val="0052A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119872" y="146304"/>
            <a:ext cx="859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CF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365760" y="4846320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zagrosia.ca  •  BCIT New Media Design &amp; Web Development  •  July 2026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256032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411480" y="1069848"/>
            <a:ext cx="457200" cy="457200"/>
          </a:xfrm>
          <a:prstGeom prst="ellipse">
            <a:avLst/>
          </a:prstGeom>
          <a:solidFill>
            <a:srgbClr val="0052A5"/>
          </a:solidFill>
          <a:ln w="12700">
            <a:solidFill>
              <a:srgbClr val="0052A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0698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CF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51560" y="1024128"/>
            <a:ext cx="7635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tools don't replace judgment — they amplify it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51560" y="1371600"/>
            <a:ext cx="7635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AI-generated component still required architectural thinking, design evaluation, and code review. The bottleneck shifted from 'can I write this?' to 'is this the right thing to write?'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11480" y="2029968"/>
            <a:ext cx="457200" cy="457200"/>
          </a:xfrm>
          <a:prstGeom prst="ellipse">
            <a:avLst/>
          </a:prstGeom>
          <a:solidFill>
            <a:srgbClr val="0052A5"/>
          </a:solidFill>
          <a:ln w="12700">
            <a:solidFill>
              <a:srgbClr val="0052A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20299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CF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51560" y="1984248"/>
            <a:ext cx="7635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clients operate differently from academic briefs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51560" y="2331720"/>
            <a:ext cx="7635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brief changed. Priorities shifted. A 2-hour review session reshaped the product more than weeks of planning. Adaptability and clear communication became technical skills.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11480" y="2990088"/>
            <a:ext cx="457200" cy="457200"/>
          </a:xfrm>
          <a:prstGeom prst="ellipse">
            <a:avLst/>
          </a:prstGeom>
          <a:solidFill>
            <a:srgbClr val="0052A5"/>
          </a:solidFill>
          <a:ln w="12700">
            <a:solidFill>
              <a:srgbClr val="0052A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29900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CF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51560" y="2944368"/>
            <a:ext cx="7635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Polish is where the professional gap lives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51560" y="3291840"/>
            <a:ext cx="7635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 between a working website and a professional product is filled with animation timing, spacing consistency, type scale, and accessibility. These aren't nice-to-haves. They're the product.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11480" y="3950208"/>
            <a:ext cx="457200" cy="457200"/>
          </a:xfrm>
          <a:prstGeom prst="ellipse">
            <a:avLst/>
          </a:prstGeom>
          <a:solidFill>
            <a:srgbClr val="0052A5"/>
          </a:solidFill>
          <a:ln w="12700">
            <a:solidFill>
              <a:srgbClr val="0052A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39502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CF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51560" y="3904488"/>
            <a:ext cx="7635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and code are two halves of one discipline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051560" y="4251960"/>
            <a:ext cx="7635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best decisions happened when designer and developer were in the same conversation. Silos produce handoff friction. Collaboration produces better products.</a:t>
            </a:r>
            <a:endParaRPr lang="en-US" sz="11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052A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0"/>
            <a:ext cx="2560320" cy="5143500"/>
          </a:xfrm>
          <a:prstGeom prst="rect">
            <a:avLst/>
          </a:prstGeom>
          <a:solidFill>
            <a:srgbClr val="003A74"/>
          </a:solidFill>
          <a:ln w="12700">
            <a:solidFill>
              <a:srgbClr val="003A7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64592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CF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Looking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CF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Ahead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548640" y="283464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94B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internship to career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457200" cy="297180"/>
          </a:xfrm>
          <a:prstGeom prst="rect">
            <a:avLst/>
          </a:prstGeom>
          <a:solidFill>
            <a:srgbClr val="94B8DC"/>
          </a:solidFill>
          <a:ln w="12700">
            <a:solidFill>
              <a:srgbClr val="94B8DC"/>
            </a:solidFill>
            <a:prstDash val="solid"/>
          </a:ln>
        </p:spPr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38160" y="164592"/>
            <a:ext cx="822960" cy="237744"/>
          </a:xfrm>
          <a:prstGeom prst="roundRect">
            <a:avLst>
              <a:gd name="adj" fmla="val 19231"/>
            </a:avLst>
          </a:prstGeom>
          <a:solidFill>
            <a:srgbClr val="0052A5"/>
          </a:solidFill>
          <a:ln w="12700">
            <a:solidFill>
              <a:srgbClr val="0052A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119872" y="146304"/>
            <a:ext cx="859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CF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365760" y="4846320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zagrosia.ca  •  BCIT New Media Design &amp; Web Development  •  July 2026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CF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Live.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8229600" cy="548640"/>
          </a:xfrm>
          <a:prstGeom prst="roundRect">
            <a:avLst>
              <a:gd name="adj" fmla="val 16667"/>
            </a:avLst>
          </a:prstGeom>
          <a:solidFill>
            <a:srgbClr val="0052A5"/>
          </a:solidFill>
          <a:ln w="12700">
            <a:solidFill>
              <a:srgbClr val="0052A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515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spc="300" kern="0" dirty="0">
                <a:solidFill>
                  <a:srgbClr val="FCF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zagrosia.ca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57200" y="1828800"/>
            <a:ext cx="8229600" cy="804672"/>
          </a:xfrm>
          <a:prstGeom prst="roundRect">
            <a:avLst>
              <a:gd name="adj" fmla="val 11364"/>
            </a:avLst>
          </a:prstGeom>
          <a:solidFill>
            <a:srgbClr val="0052A5"/>
          </a:solidFill>
          <a:ln w="12700">
            <a:solidFill>
              <a:srgbClr val="0052A5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85800" y="193852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4B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Client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606040" y="1920240"/>
            <a:ext cx="5852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D6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practicing P.Eng with 35+ years of experience now has a digital presence that reflects the scale and quality of their firm.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788920"/>
            <a:ext cx="8229600" cy="804672"/>
          </a:xfrm>
          <a:prstGeom prst="roundRect">
            <a:avLst>
              <a:gd name="adj" fmla="val 11364"/>
            </a:avLst>
          </a:prstGeom>
          <a:solidFill>
            <a:srgbClr val="0052A5"/>
          </a:solidFill>
          <a:ln w="12700">
            <a:solidFill>
              <a:srgbClr val="0052A5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85800" y="289864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4B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Stack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606040" y="2880360"/>
            <a:ext cx="5852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D6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15 · TypeScript · Tailwind CSS · Framer Motion · GitHub → Netlify CI/CD. Production infrastructure, not a classroom project.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749040"/>
            <a:ext cx="8229600" cy="804672"/>
          </a:xfrm>
          <a:prstGeom prst="roundRect">
            <a:avLst>
              <a:gd name="adj" fmla="val 11364"/>
            </a:avLst>
          </a:prstGeom>
          <a:solidFill>
            <a:srgbClr val="0052A5"/>
          </a:solidFill>
          <a:ln w="12700">
            <a:solidFill>
              <a:srgbClr val="0052A5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85800" y="385876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4B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Handoff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606040" y="3840480"/>
            <a:ext cx="5852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D6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site was delivered to the client with documentation, admin access, and a deployment pipeline that auto-updates on every git push.</a:t>
            </a:r>
            <a:endParaRPr lang="en-US" sz="12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3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38160" y="164592"/>
            <a:ext cx="822960" cy="237744"/>
          </a:xfrm>
          <a:prstGeom prst="roundRect">
            <a:avLst>
              <a:gd name="adj" fmla="val 19231"/>
            </a:avLst>
          </a:prstGeom>
          <a:solidFill>
            <a:srgbClr val="0052A5"/>
          </a:solidFill>
          <a:ln w="12700">
            <a:solidFill>
              <a:srgbClr val="0052A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119872" y="146304"/>
            <a:ext cx="859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CF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365760" y="4846320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zagrosia.ca  •  BCIT New Media Design &amp; Web Development  •  July 2026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256032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4114800" cy="3520440"/>
          </a:xfrm>
          <a:prstGeom prst="roundRect">
            <a:avLst>
              <a:gd name="adj" fmla="val 3117"/>
            </a:avLst>
          </a:prstGeom>
          <a:solidFill>
            <a:srgbClr val="FCFCFC"/>
          </a:solidFill>
          <a:ln w="12700">
            <a:solidFill>
              <a:srgbClr val="D1DCE8"/>
            </a:solidFill>
            <a:prstDash val="solid"/>
          </a:ln>
          <a:effectLst>
            <a:outerShdw sx="100000" sy="100000" kx="0" ky="0" algn="bl" rotWithShape="0" blurRad="152400" dist="50800" dir="27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1261872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52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Morsal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1783080"/>
            <a:ext cx="3749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8000"/>
              </a:lnSpc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 contributing to zagrosia.ca — CMS integration, blog automation, and advanced AI features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2679192"/>
            <a:ext cx="3749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8000"/>
              </a:lnSpc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Pursue full-stack development roles in BC tech — Next.js, TypeScript, and animation-forward products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3575304"/>
            <a:ext cx="3749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8000"/>
              </a:lnSpc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AI-assisted development workflow to future freelance and agency projects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800600" y="1097280"/>
            <a:ext cx="4114800" cy="3520440"/>
          </a:xfrm>
          <a:prstGeom prst="roundRect">
            <a:avLst>
              <a:gd name="adj" fmla="val 3117"/>
            </a:avLst>
          </a:prstGeom>
          <a:solidFill>
            <a:srgbClr val="FCFCFC"/>
          </a:solidFill>
          <a:ln w="12700">
            <a:solidFill>
              <a:srgbClr val="D1DCE8"/>
            </a:solidFill>
            <a:prstDash val="solid"/>
          </a:ln>
          <a:effectLst>
            <a:outerShdw sx="100000" sy="100000" kx="0" ky="0" algn="bl" rotWithShape="0" blurRad="152400" dist="50800" dir="27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983480" y="1261872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52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Farnaz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983480" y="1783080"/>
            <a:ext cx="3749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8000"/>
              </a:lnSpc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out the Zagrosia design system as a reusable Figma library for future firm materials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983480" y="2679192"/>
            <a:ext cx="3749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8000"/>
              </a:lnSpc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Pursue UX/UI design roles at product companies and agencies in Metro Vancouver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983480" y="3575304"/>
            <a:ext cx="3749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8000"/>
              </a:lnSpc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 developing expertise in interaction design and design-to-dev handoff workflows</a:t>
            </a:r>
            <a:endParaRPr lang="en-US" sz="12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052A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94B8DC"/>
          </a:solidFill>
          <a:ln w="12700">
            <a:solidFill>
              <a:srgbClr val="94B8D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7724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CF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6000" dirty="0"/>
          </a:p>
        </p:txBody>
      </p:sp>
      <p:sp>
        <p:nvSpPr>
          <p:cNvPr id="4" name="Shape 2"/>
          <p:cNvSpPr/>
          <p:nvPr/>
        </p:nvSpPr>
        <p:spPr>
          <a:xfrm>
            <a:off x="3200400" y="1874520"/>
            <a:ext cx="2743200" cy="0"/>
          </a:xfrm>
          <a:prstGeom prst="line">
            <a:avLst/>
          </a:prstGeom>
          <a:noFill/>
          <a:ln w="19050">
            <a:solidFill>
              <a:srgbClr val="94B8D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0116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4B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278892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CF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Morsal Mozneb  ·  Farnaz Gholami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321868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B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BCIT New Media Design &amp; Web Development  ·  2026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926080" y="3749040"/>
            <a:ext cx="3291840" cy="59436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26080" y="374904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52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zagrosia.ca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32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Zagrosia Engineering — Internship Presentation</dc:title>
  <dc:subject>PptxGenJS Presentation</dc:subject>
  <dc:creator>Morsal Mozneb &amp; Farnaz Gholami</dc:creator>
  <cp:lastModifiedBy>Morsal Mozneb &amp; Farnaz Gholami</cp:lastModifiedBy>
  <cp:revision>1</cp:revision>
  <dcterms:created xsi:type="dcterms:W3CDTF">2026-07-09T17:29:40Z</dcterms:created>
  <dcterms:modified xsi:type="dcterms:W3CDTF">2026-07-09T17:29:40Z</dcterms:modified>
</cp:coreProperties>
</file>